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9184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9184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502920"/>
            <a:ext cx="10362895" cy="365760"/>
          </a:xfrm>
          <a:prstGeom prst="rect">
            <a:avLst/>
          </a:prstGeom>
          <a:noFill/>
        </p:spPr>
        <p:txBody>
          <a:bodyPr wrap="none" lIns="0" tIns="0" rIns="0" bIns="0">
            <a:spAutoFit/>
          </a:bodyPr>
          <a:lstStyle/>
          <a:p>
            <a:pPr>
              <a:defRPr sz="1100" b="1">
                <a:solidFill>
                  <a:srgbClr val="B4CDE6"/>
                </a:solidFill>
                <a:latin typeface="Segoe UI"/>
              </a:defRPr>
            </a:pPr>
            <a:r>
              <a:t>TRƯỜNG CÔNG NGHỆ THÔNG TIN VÀ TRUYỀN THÔNG (SOICT) — ĐẠI HỌC BÁCH KHOA HÀ NỘI</a:t>
            </a:r>
          </a:p>
        </p:txBody>
      </p:sp>
      <p:sp>
        <p:nvSpPr>
          <p:cNvPr id="5" name="TextBox 4"/>
          <p:cNvSpPr txBox="1"/>
          <p:nvPr/>
        </p:nvSpPr>
        <p:spPr>
          <a:xfrm>
            <a:off x="914400" y="868680"/>
            <a:ext cx="10362895" cy="1645920"/>
          </a:xfrm>
          <a:prstGeom prst="rect">
            <a:avLst/>
          </a:prstGeom>
          <a:noFill/>
        </p:spPr>
        <p:txBody>
          <a:bodyPr wrap="square" lIns="0" tIns="0" rIns="0" bIns="0">
            <a:spAutoFit/>
          </a:bodyPr>
          <a:lstStyle/>
          <a:p>
            <a:pPr>
              <a:defRPr sz="2900" b="1">
                <a:solidFill>
                  <a:srgbClr val="FFFFFF"/>
                </a:solidFill>
                <a:latin typeface="Segoe UI"/>
              </a:defRPr>
            </a:pPr>
            <a:r>
              <a:t>THỰC HÀNH 1: PROBLEM STATEMENT → USER NEEDS</a:t>
            </a:r>
          </a:p>
          <a:p>
            <a:pPr>
              <a:spcBef>
                <a:spcPts val="700"/>
              </a:spcBef>
              <a:defRPr sz="1750">
                <a:solidFill>
                  <a:srgbClr val="8CE6DC"/>
                </a:solidFill>
                <a:latin typeface="Segoe UI"/>
              </a:defRPr>
            </a:pPr>
            <a:r>
              <a:t>Đề tài: Hệ thống Quản lý Đào tạo Đại học theo Học chế Tín chỉ</a:t>
            </a:r>
          </a:p>
          <a:p>
            <a:pPr>
              <a:spcBef>
                <a:spcPts val="500"/>
              </a:spcBef>
              <a:defRPr sz="1250">
                <a:solidFill>
                  <a:srgbClr val="D2E1F0"/>
                </a:solidFill>
                <a:latin typeface="Segoe UI"/>
              </a:defRPr>
            </a:pPr>
            <a:r>
              <a:t>Môn học: Phân tích và Thiết kế Hệ thống (IT3120)</a:t>
            </a:r>
          </a:p>
        </p:txBody>
      </p:sp>
      <p:sp>
        <p:nvSpPr>
          <p:cNvPr id="6" name="Rounded Rectangle 5"/>
          <p:cNvSpPr/>
          <p:nvPr/>
        </p:nvSpPr>
        <p:spPr>
          <a:xfrm>
            <a:off x="914400" y="3749039"/>
            <a:ext cx="6766560" cy="2468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3749039"/>
            <a:ext cx="64008" cy="24688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3931920"/>
            <a:ext cx="6217920" cy="2103120"/>
          </a:xfrm>
          <a:prstGeom prst="rect">
            <a:avLst/>
          </a:prstGeom>
          <a:noFill/>
        </p:spPr>
        <p:txBody>
          <a:bodyPr wrap="square" lIns="0" tIns="0" rIns="0" bIns="0">
            <a:spAutoFit/>
          </a:bodyPr>
          <a:lstStyle/>
          <a:p>
            <a:pPr>
              <a:defRPr sz="1200" b="1">
                <a:solidFill>
                  <a:srgbClr val="0D9488"/>
                </a:solidFill>
                <a:latin typeface="Segoe UI"/>
              </a:defRPr>
            </a:pPr>
            <a:r>
              <a:t>ĐỊNH HƯỚNG CỐT LÕI TỪ GIẢNG VIÊN HƯỚNG DẪN:</a:t>
            </a:r>
          </a:p>
          <a:p>
            <a:pPr>
              <a:spcBef>
                <a:spcPts val="700"/>
              </a:spcBef>
              <a:defRPr sz="1300" i="1">
                <a:solidFill>
                  <a:srgbClr val="0F2B48"/>
                </a:solidFill>
                <a:latin typeface="Segoe UI"/>
              </a:defRPr>
            </a:pPr>
            <a:r>
              <a:t>“Chỉ cần phân tích Problem Statement chung nhất bao quát các vấn đề (problems), giữ độ mở ở mức tổng quan để các buổi sau mới đi vào phân tích sâu (Business Model Canvas / Value Proposition Canvas, UX, Use Case...).“</a:t>
            </a:r>
          </a:p>
          <a:p>
            <a:pPr>
              <a:spcBef>
                <a:spcPts val="800"/>
              </a:spcBef>
              <a:defRPr sz="1100">
                <a:solidFill>
                  <a:srgbClr val="64748B"/>
                </a:solidFill>
                <a:latin typeface="Segoe UI"/>
              </a:defRPr>
            </a:pPr>
            <a:r>
              <a:t>• Trọng tâm: Xây dựng 04 User Needs đại diện 4 chủ thể, đào sâu 01 nhu cầu ưu tiên và phát biểu bài toán chung nhất.</a:t>
            </a:r>
          </a:p>
        </p:txBody>
      </p:sp>
      <p:sp>
        <p:nvSpPr>
          <p:cNvPr id="9" name="Rounded Rectangle 8"/>
          <p:cNvSpPr/>
          <p:nvPr/>
        </p:nvSpPr>
        <p:spPr>
          <a:xfrm>
            <a:off x="7955279" y="3749039"/>
            <a:ext cx="3322015" cy="2468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3931920"/>
            <a:ext cx="2880360" cy="2103120"/>
          </a:xfrm>
          <a:prstGeom prst="rect">
            <a:avLst/>
          </a:prstGeom>
          <a:noFill/>
        </p:spPr>
        <p:txBody>
          <a:bodyPr wrap="square" lIns="0" tIns="0" rIns="0" bIns="0">
            <a:spAutoFit/>
          </a:bodyPr>
          <a:lstStyle/>
          <a:p>
            <a:pPr>
              <a:defRPr sz="1200" b="1">
                <a:solidFill>
                  <a:srgbClr val="0F2B48"/>
                </a:solidFill>
                <a:latin typeface="Segoe UI"/>
              </a:defRPr>
            </a:pPr>
            <a:r>
              <a:t>THÔNG TIN HỌC VỤ &amp; NHÓM</a:t>
            </a:r>
          </a:p>
          <a:p>
            <a:pPr>
              <a:spcBef>
                <a:spcPts val="500"/>
              </a:spcBef>
              <a:defRPr sz="1050">
                <a:solidFill>
                  <a:srgbClr val="1E293B"/>
                </a:solidFill>
                <a:latin typeface="Segoe UI"/>
              </a:defRPr>
            </a:pPr>
            <a:r>
              <a:t>Giảng viên: Bộ môn Hệ thống Thông tin</a:t>
            </a:r>
          </a:p>
          <a:p>
            <a:pPr>
              <a:spcBef>
                <a:spcPts val="500"/>
              </a:spcBef>
              <a:defRPr sz="1050">
                <a:solidFill>
                  <a:srgbClr val="1E293B"/>
                </a:solidFill>
                <a:latin typeface="Segoe UI"/>
              </a:defRPr>
            </a:pPr>
            <a:r>
              <a:t>Đơn vị đào tạo: SOICT — ĐHBK Hà Nội</a:t>
            </a:r>
          </a:p>
          <a:p>
            <a:pPr>
              <a:spcBef>
                <a:spcPts val="500"/>
              </a:spcBef>
              <a:defRPr sz="1050">
                <a:solidFill>
                  <a:srgbClr val="1E293B"/>
                </a:solidFill>
                <a:latin typeface="Segoe UI"/>
              </a:defRPr>
            </a:pPr>
            <a:r>
              <a:t>Quy mô nhóm: 04 Thành viên (4 Phân hệ)</a:t>
            </a:r>
          </a:p>
          <a:p>
            <a:pPr>
              <a:spcBef>
                <a:spcPts val="500"/>
              </a:spcBef>
              <a:defRPr sz="1050">
                <a:solidFill>
                  <a:srgbClr val="1E293B"/>
                </a:solidFill>
                <a:latin typeface="Segoe UI"/>
              </a:defRPr>
            </a:pPr>
            <a:r>
              <a:t>Đối tượng nghiên cứu: Quản lý đào tạo tín chỉ</a:t>
            </a:r>
          </a:p>
          <a:p>
            <a:pPr>
              <a:spcBef>
                <a:spcPts val="500"/>
              </a:spcBef>
              <a:defRPr sz="1050">
                <a:solidFill>
                  <a:srgbClr val="1E293B"/>
                </a:solidFill>
                <a:latin typeface="Segoe UI"/>
              </a:defRPr>
            </a:pPr>
            <a:r>
              <a:t>Phương pháp luận: Problem Statement → User Needs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2004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8686800" cy="594360"/>
          </a:xfrm>
          <a:prstGeom prst="rect">
            <a:avLst/>
          </a:prstGeom>
          <a:noFill/>
        </p:spPr>
        <p:txBody>
          <a:bodyPr wrap="square" lIns="0" tIns="0" rIns="0" bIns="0">
            <a:spAutoFit/>
          </a:bodyPr>
          <a:lstStyle/>
          <a:p>
            <a:pPr>
              <a:defRPr sz="2000" b="1">
                <a:solidFill>
                  <a:srgbClr val="0F2B48"/>
                </a:solidFill>
                <a:latin typeface="Segoe UI"/>
              </a:defRPr>
            </a:pPr>
            <a:r>
              <a:t>1. Bối cảnh Chung &amp; Các Vấn đề Bề mặt (Situation &amp; Problems)</a:t>
            </a:r>
          </a:p>
        </p:txBody>
      </p:sp>
      <p:sp>
        <p:nvSpPr>
          <p:cNvPr id="4" name="TextBox 3"/>
          <p:cNvSpPr txBox="1"/>
          <p:nvPr/>
        </p:nvSpPr>
        <p:spPr>
          <a:xfrm>
            <a:off x="7772400" y="411480"/>
            <a:ext cx="3687775" cy="411480"/>
          </a:xfrm>
          <a:prstGeom prst="rect">
            <a:avLst/>
          </a:prstGeom>
          <a:noFill/>
        </p:spPr>
        <p:txBody>
          <a:bodyPr wrap="square" lIns="0" tIns="0" rIns="0" bIns="0">
            <a:spAutoFit/>
          </a:bodyPr>
          <a:lstStyle/>
          <a:p>
            <a:pPr algn="r">
              <a:defRPr sz="1050" b="1">
                <a:solidFill>
                  <a:srgbClr val="0D9488"/>
                </a:solidFill>
                <a:latin typeface="Segoe UI"/>
              </a:defRPr>
            </a:pPr>
            <a:r>
              <a:t>THỰC HÀNH 1: PROBLEM STATEMENT → USER NEEDS</a:t>
            </a:r>
          </a:p>
        </p:txBody>
      </p:sp>
      <p:sp>
        <p:nvSpPr>
          <p:cNvPr id="5" name="Rectangle 4"/>
          <p:cNvSpPr/>
          <p:nvPr/>
        </p:nvSpPr>
        <p:spPr>
          <a:xfrm>
            <a:off x="731520" y="6446520"/>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4572000" cy="274320"/>
          </a:xfrm>
          <a:prstGeom prst="rect">
            <a:avLst/>
          </a:prstGeom>
          <a:noFill/>
        </p:spPr>
        <p:txBody>
          <a:bodyPr wrap="none" lIns="0" tIns="0" rIns="0" bIns="0">
            <a:spAutoFit/>
          </a:bodyPr>
          <a:lstStyle/>
          <a:p>
            <a:pPr>
              <a:defRPr sz="950">
                <a:solidFill>
                  <a:srgbClr val="64748B"/>
                </a:solidFill>
                <a:latin typeface="Segoe UI"/>
              </a:defRPr>
            </a:pPr>
            <a:r>
              <a:t>IT3120 - Phân tích &amp; Thiết kế Hệ thống | SOICT - ĐHBK Hà Nội</a:t>
            </a:r>
          </a:p>
        </p:txBody>
      </p:sp>
      <p:sp>
        <p:nvSpPr>
          <p:cNvPr id="7" name="TextBox 6"/>
          <p:cNvSpPr txBox="1"/>
          <p:nvPr/>
        </p:nvSpPr>
        <p:spPr>
          <a:xfrm>
            <a:off x="4572000" y="6492240"/>
            <a:ext cx="4572000" cy="274320"/>
          </a:xfrm>
          <a:prstGeom prst="rect">
            <a:avLst/>
          </a:prstGeom>
          <a:noFill/>
        </p:spPr>
        <p:txBody>
          <a:bodyPr wrap="none" lIns="0" tIns="0" rIns="0" bIns="0">
            <a:spAutoFit/>
          </a:bodyPr>
          <a:lstStyle/>
          <a:p>
            <a:pPr algn="ctr">
              <a:defRPr sz="950">
                <a:solidFill>
                  <a:srgbClr val="64748B"/>
                </a:solidFill>
                <a:latin typeface="Segoe UI"/>
              </a:defRPr>
            </a:pPr>
            <a:r>
              <a:t>Đề tài: Hệ thống Quản lý Đào tạo Đại học theo Học chế Tín chỉ</a:t>
            </a:r>
          </a:p>
        </p:txBody>
      </p:sp>
      <p:sp>
        <p:nvSpPr>
          <p:cNvPr id="8" name="TextBox 7"/>
          <p:cNvSpPr txBox="1"/>
          <p:nvPr/>
        </p:nvSpPr>
        <p:spPr>
          <a:xfrm>
            <a:off x="9631375" y="6492240"/>
            <a:ext cx="1828800" cy="274320"/>
          </a:xfrm>
          <a:prstGeom prst="rect">
            <a:avLst/>
          </a:prstGeom>
          <a:noFill/>
        </p:spPr>
        <p:txBody>
          <a:bodyPr wrap="none" lIns="0" tIns="0" rIns="0" bIns="0">
            <a:spAutoFit/>
          </a:bodyPr>
          <a:lstStyle/>
          <a:p>
            <a:pPr algn="r">
              <a:defRPr sz="950" b="1">
                <a:solidFill>
                  <a:srgbClr val="0F2B48"/>
                </a:solidFill>
                <a:latin typeface="Segoe UI"/>
              </a:defRPr>
            </a:pPr>
            <a:r>
              <a:t>Slide 2 / 8</a:t>
            </a:r>
          </a:p>
        </p:txBody>
      </p:sp>
      <p:sp>
        <p:nvSpPr>
          <p:cNvPr id="9" name="Rounded Rectangle 8"/>
          <p:cNvSpPr/>
          <p:nvPr/>
        </p:nvSpPr>
        <p:spPr>
          <a:xfrm>
            <a:off x="731520" y="1051560"/>
            <a:ext cx="10728655"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051560"/>
            <a:ext cx="64008" cy="86868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115568"/>
            <a:ext cx="10241280" cy="731520"/>
          </a:xfrm>
          <a:prstGeom prst="rect">
            <a:avLst/>
          </a:prstGeom>
          <a:noFill/>
        </p:spPr>
        <p:txBody>
          <a:bodyPr wrap="square" lIns="0" tIns="0" rIns="0" bIns="0">
            <a:spAutoFit/>
          </a:bodyPr>
          <a:lstStyle/>
          <a:p>
            <a:pPr>
              <a:defRPr sz="1150" b="1">
                <a:solidFill>
                  <a:srgbClr val="0F2B48"/>
                </a:solidFill>
                <a:latin typeface="Segoe UI"/>
              </a:defRPr>
            </a:pPr>
            <a:r>
              <a:t>BỐI CẢNH ĐÀO TẠO ĐẠI HỌC THEO HỌC CHẾ TÍN CHỈ:</a:t>
            </a:r>
          </a:p>
          <a:p>
            <a:pPr>
              <a:spcBef>
                <a:spcPts val="300"/>
              </a:spcBef>
              <a:defRPr sz="1100">
                <a:solidFill>
                  <a:srgbClr val="1E293B"/>
                </a:solidFill>
                <a:latin typeface="Segoe UI"/>
              </a:defRPr>
            </a:pPr>
            <a:r>
              <a:t>Mô hình đào tạo theo học chế tín chỉ trao quyền tự chủ học tập cho sinh viên. Với quy mô hơn 35.000 người học và hàng trăm học phần mở đồng thời, việc cá nhân hóa kế hoạch học tập tạo ra áp lực tương tác và đồng bộ dữ liệu khổng lồ giữa 4 chủ thể liên quan.</a:t>
            </a:r>
          </a:p>
        </p:txBody>
      </p:sp>
      <p:sp>
        <p:nvSpPr>
          <p:cNvPr id="12" name="Rounded Rectangle 11"/>
          <p:cNvSpPr/>
          <p:nvPr/>
        </p:nvSpPr>
        <p:spPr>
          <a:xfrm>
            <a:off x="731520" y="2057400"/>
            <a:ext cx="2542032" cy="30632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2057400"/>
            <a:ext cx="64008" cy="3063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194560"/>
            <a:ext cx="2313432" cy="2788920"/>
          </a:xfrm>
          <a:prstGeom prst="rect">
            <a:avLst/>
          </a:prstGeom>
          <a:noFill/>
        </p:spPr>
        <p:txBody>
          <a:bodyPr wrap="square" lIns="0" tIns="0" rIns="0" bIns="0">
            <a:spAutoFit/>
          </a:bodyPr>
          <a:lstStyle/>
          <a:p>
            <a:pPr>
              <a:defRPr sz="1150" b="1">
                <a:solidFill>
                  <a:srgbClr val="2563EB"/>
                </a:solidFill>
                <a:latin typeface="Segoe UI"/>
              </a:defRPr>
            </a:pPr>
            <a:r>
              <a:t>1. SINH VIÊN (REG)</a:t>
            </a:r>
          </a:p>
          <a:p>
            <a:pPr>
              <a:spcBef>
                <a:spcPts val="600"/>
              </a:spcBef>
              <a:defRPr sz="1050">
                <a:solidFill>
                  <a:srgbClr val="1E293B"/>
                </a:solidFill>
                <a:latin typeface="Segoe UI"/>
              </a:defRPr>
            </a:pPr>
            <a:r>
              <a:t>• Lúng túng khi tự lập kế hoạch học tập dài hạn qua các kỳ.</a:t>
            </a:r>
          </a:p>
          <a:p>
            <a:pPr>
              <a:spcBef>
                <a:spcPts val="600"/>
              </a:spcBef>
              <a:defRPr sz="1050">
                <a:solidFill>
                  <a:srgbClr val="1E293B"/>
                </a:solidFill>
                <a:latin typeface="Segoe UI"/>
              </a:defRPr>
            </a:pPr>
            <a:r>
              <a:t>• Cổng nghẽn mạng lúc mở đợt, dễ lỡ môn tiên quyết cốt lõi.</a:t>
            </a:r>
          </a:p>
          <a:p>
            <a:pPr>
              <a:spcBef>
                <a:spcPts val="600"/>
              </a:spcBef>
              <a:defRPr sz="1050">
                <a:solidFill>
                  <a:srgbClr val="1E293B"/>
                </a:solidFill>
                <a:latin typeface="Segoe UI"/>
              </a:defRPr>
            </a:pPr>
            <a:r>
              <a:t>• Bị động trong việc theo dõi tích lũy tín chỉ và nghĩa vụ học phí.</a:t>
            </a:r>
          </a:p>
        </p:txBody>
      </p:sp>
      <p:sp>
        <p:nvSpPr>
          <p:cNvPr id="15" name="Rounded Rectangle 14"/>
          <p:cNvSpPr/>
          <p:nvPr/>
        </p:nvSpPr>
        <p:spPr>
          <a:xfrm>
            <a:off x="3456432" y="2057400"/>
            <a:ext cx="2542032" cy="30632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56432" y="2057400"/>
            <a:ext cx="64008" cy="3063240"/>
          </a:xfrm>
          <a:prstGeom prst="rect">
            <a:avLst/>
          </a:prstGeom>
          <a:solidFill>
            <a:srgbClr val="C262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93592" y="2194560"/>
            <a:ext cx="2313432" cy="2788920"/>
          </a:xfrm>
          <a:prstGeom prst="rect">
            <a:avLst/>
          </a:prstGeom>
          <a:noFill/>
        </p:spPr>
        <p:txBody>
          <a:bodyPr wrap="square" lIns="0" tIns="0" rIns="0" bIns="0">
            <a:spAutoFit/>
          </a:bodyPr>
          <a:lstStyle/>
          <a:p>
            <a:pPr>
              <a:defRPr sz="1150" b="1">
                <a:solidFill>
                  <a:srgbClr val="C2620E"/>
                </a:solidFill>
                <a:latin typeface="Segoe UI"/>
              </a:defRPr>
            </a:pPr>
            <a:r>
              <a:t>2. GIẢNG VIÊN (GRD)</a:t>
            </a:r>
          </a:p>
          <a:p>
            <a:pPr>
              <a:spcBef>
                <a:spcPts val="600"/>
              </a:spcBef>
              <a:defRPr sz="1050">
                <a:solidFill>
                  <a:srgbClr val="1E293B"/>
                </a:solidFill>
                <a:latin typeface="Segoe UI"/>
              </a:defRPr>
            </a:pPr>
            <a:r>
              <a:t>• Quản lý danh sách lớp đông sinh viên từ nhiều khóa/ngành rời rạc.</a:t>
            </a:r>
          </a:p>
          <a:p>
            <a:pPr>
              <a:spcBef>
                <a:spcPts val="600"/>
              </a:spcBef>
              <a:defRPr sz="1050">
                <a:solidFill>
                  <a:srgbClr val="1E293B"/>
                </a:solidFill>
                <a:latin typeface="Segoe UI"/>
              </a:defRPr>
            </a:pPr>
            <a:r>
              <a:t>• Nhập và tính toán điểm thành phần bằng Excel thủ công dễ sai sót.</a:t>
            </a:r>
          </a:p>
          <a:p>
            <a:pPr>
              <a:spcBef>
                <a:spcPts val="600"/>
              </a:spcBef>
              <a:defRPr sz="1050">
                <a:solidFill>
                  <a:srgbClr val="1E293B"/>
                </a:solidFill>
                <a:latin typeface="Segoe UI"/>
              </a:defRPr>
            </a:pPr>
            <a:r>
              <a:t>• Áp lực rà soát và nộp bảng điểm an toàn, đúng hạn quy chế.</a:t>
            </a:r>
          </a:p>
        </p:txBody>
      </p:sp>
      <p:sp>
        <p:nvSpPr>
          <p:cNvPr id="18" name="Rounded Rectangle 17"/>
          <p:cNvSpPr/>
          <p:nvPr/>
        </p:nvSpPr>
        <p:spPr>
          <a:xfrm>
            <a:off x="6181344" y="2057400"/>
            <a:ext cx="2542032" cy="30632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81344" y="2057400"/>
            <a:ext cx="64008" cy="30632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8504" y="2194560"/>
            <a:ext cx="2313432" cy="2788920"/>
          </a:xfrm>
          <a:prstGeom prst="rect">
            <a:avLst/>
          </a:prstGeom>
          <a:noFill/>
        </p:spPr>
        <p:txBody>
          <a:bodyPr wrap="square" lIns="0" tIns="0" rIns="0" bIns="0">
            <a:spAutoFit/>
          </a:bodyPr>
          <a:lstStyle/>
          <a:p>
            <a:pPr>
              <a:defRPr sz="1150" b="1">
                <a:solidFill>
                  <a:srgbClr val="0D9488"/>
                </a:solidFill>
                <a:latin typeface="Segoe UI"/>
              </a:defRPr>
            </a:pPr>
            <a:r>
              <a:t>3. PHÒNG ĐÀO TẠO (SCH)</a:t>
            </a:r>
          </a:p>
          <a:p>
            <a:pPr>
              <a:spcBef>
                <a:spcPts val="600"/>
              </a:spcBef>
              <a:defRPr sz="1050">
                <a:solidFill>
                  <a:srgbClr val="1E293B"/>
                </a:solidFill>
                <a:latin typeface="Segoe UI"/>
              </a:defRPr>
            </a:pPr>
            <a:r>
              <a:t>• Khối lượng mở lớp biến động liên tục qua các đợt đăng ký.</a:t>
            </a:r>
          </a:p>
          <a:p>
            <a:pPr>
              <a:spcBef>
                <a:spcPts val="600"/>
              </a:spcBef>
              <a:defRPr sz="1050">
                <a:solidFill>
                  <a:srgbClr val="1E293B"/>
                </a:solidFill>
                <a:latin typeface="Segoe UI"/>
              </a:defRPr>
            </a:pPr>
            <a:r>
              <a:t>• Quá tải tiếp nhận đơn xin mở lớp, hủy lớp nộp thủ công.</a:t>
            </a:r>
          </a:p>
          <a:p>
            <a:pPr>
              <a:spcBef>
                <a:spcPts val="600"/>
              </a:spcBef>
              <a:defRPr sz="1050">
                <a:solidFill>
                  <a:srgbClr val="1E293B"/>
                </a:solidFill>
                <a:latin typeface="Segoe UI"/>
              </a:defRPr>
            </a:pPr>
            <a:r>
              <a:t>• Nguy cơ vỡ kế hoạch điều phối giảng đường và thời khóa biểu.</a:t>
            </a:r>
          </a:p>
        </p:txBody>
      </p:sp>
      <p:sp>
        <p:nvSpPr>
          <p:cNvPr id="21" name="Rounded Rectangle 20"/>
          <p:cNvSpPr/>
          <p:nvPr/>
        </p:nvSpPr>
        <p:spPr>
          <a:xfrm>
            <a:off x="8906256" y="2057400"/>
            <a:ext cx="2542032" cy="30632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06256" y="2057400"/>
            <a:ext cx="64008" cy="30632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43416" y="2194560"/>
            <a:ext cx="2313432" cy="2788920"/>
          </a:xfrm>
          <a:prstGeom prst="rect">
            <a:avLst/>
          </a:prstGeom>
          <a:noFill/>
        </p:spPr>
        <p:txBody>
          <a:bodyPr wrap="square" lIns="0" tIns="0" rIns="0" bIns="0">
            <a:spAutoFit/>
          </a:bodyPr>
          <a:lstStyle/>
          <a:p>
            <a:pPr>
              <a:defRPr sz="1150" b="1">
                <a:solidFill>
                  <a:srgbClr val="7C3AED"/>
                </a:solidFill>
                <a:latin typeface="Segoe UI"/>
              </a:defRPr>
            </a:pPr>
            <a:r>
              <a:t>4. PHÒNG TÀI VỤ (FIN)</a:t>
            </a:r>
          </a:p>
          <a:p>
            <a:pPr>
              <a:spcBef>
                <a:spcPts val="600"/>
              </a:spcBef>
              <a:defRPr sz="1050">
                <a:solidFill>
                  <a:srgbClr val="1E293B"/>
                </a:solidFill>
                <a:latin typeface="Segoe UI"/>
              </a:defRPr>
            </a:pPr>
            <a:r>
              <a:t>• Chậm xác định công nợ học phí do sinh viên thay đổi môn học.</a:t>
            </a:r>
          </a:p>
          <a:p>
            <a:pPr>
              <a:spcBef>
                <a:spcPts val="600"/>
              </a:spcBef>
              <a:defRPr sz="1050">
                <a:solidFill>
                  <a:srgbClr val="1E293B"/>
                </a:solidFill>
                <a:latin typeface="Segoe UI"/>
              </a:defRPr>
            </a:pPr>
            <a:r>
              <a:t>• Đối soát sao kê ngân hàng thủ công tiêu tốn nhiều nhân lực.</a:t>
            </a:r>
          </a:p>
          <a:p>
            <a:pPr>
              <a:spcBef>
                <a:spcPts val="600"/>
              </a:spcBef>
              <a:defRPr sz="1050">
                <a:solidFill>
                  <a:srgbClr val="1E293B"/>
                </a:solidFill>
                <a:latin typeface="Segoe UI"/>
              </a:defRPr>
            </a:pPr>
            <a:r>
              <a:t>• Chậm thu hồi ngân sách đào tạo để tái đầu tư cơ sở vật chất.</a:t>
            </a:r>
          </a:p>
        </p:txBody>
      </p:sp>
      <p:sp>
        <p:nvSpPr>
          <p:cNvPr id="24" name="Rounded Rectangle 23"/>
          <p:cNvSpPr/>
          <p:nvPr/>
        </p:nvSpPr>
        <p:spPr>
          <a:xfrm>
            <a:off x="731520" y="5257800"/>
            <a:ext cx="10728655" cy="105156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5330952"/>
            <a:ext cx="10241280" cy="868680"/>
          </a:xfrm>
          <a:prstGeom prst="rect">
            <a:avLst/>
          </a:prstGeom>
          <a:noFill/>
        </p:spPr>
        <p:txBody>
          <a:bodyPr wrap="square" lIns="0" tIns="0" rIns="0" bIns="0">
            <a:spAutoFit/>
          </a:bodyPr>
          <a:lstStyle/>
          <a:p>
            <a:pPr>
              <a:defRPr sz="1150" b="1">
                <a:solidFill>
                  <a:srgbClr val="16A34A"/>
                </a:solidFill>
                <a:latin typeface="Segoe UI"/>
              </a:defRPr>
            </a:pPr>
            <a:r>
              <a:t>🎯 ĐIỂM GIAO THOA CỐT LÕI (CORE ROOT PROBLEM):</a:t>
            </a:r>
          </a:p>
          <a:p>
            <a:pPr>
              <a:spcBef>
                <a:spcPts val="300"/>
              </a:spcBef>
              <a:defRPr sz="1100">
                <a:solidFill>
                  <a:srgbClr val="0F2B48"/>
                </a:solidFill>
                <a:latin typeface="Segoe UI"/>
              </a:defRPr>
            </a:pPr>
            <a:r>
              <a:t>Các vấn đề rời rạc ở trên đều quy tụ về một nguyên nhân gốc: Sự phân tán thông tin và thiếu tính liên thông dữ liệu học vụ theo thời gian thực giữa Sinh viên – Giảng viên – Nhà trường – Tài vụ trong suốt vòng đời đào tạo, gây ma sát quy trình và quá tải vận hành.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2004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8686800" cy="594360"/>
          </a:xfrm>
          <a:prstGeom prst="rect">
            <a:avLst/>
          </a:prstGeom>
          <a:noFill/>
        </p:spPr>
        <p:txBody>
          <a:bodyPr wrap="square" lIns="0" tIns="0" rIns="0" bIns="0">
            <a:spAutoFit/>
          </a:bodyPr>
          <a:lstStyle/>
          <a:p>
            <a:pPr>
              <a:defRPr sz="2000" b="1">
                <a:solidFill>
                  <a:srgbClr val="0F2B48"/>
                </a:solidFill>
                <a:latin typeface="Segoe UI"/>
              </a:defRPr>
            </a:pPr>
            <a:r>
              <a:t>2. Nhiệm vụ 1 &amp; 2: 04 User Needs, Bối cảnh &amp; Trở ngại</a:t>
            </a:r>
          </a:p>
        </p:txBody>
      </p:sp>
      <p:sp>
        <p:nvSpPr>
          <p:cNvPr id="4" name="TextBox 3"/>
          <p:cNvSpPr txBox="1"/>
          <p:nvPr/>
        </p:nvSpPr>
        <p:spPr>
          <a:xfrm>
            <a:off x="7772400" y="411480"/>
            <a:ext cx="3687775" cy="411480"/>
          </a:xfrm>
          <a:prstGeom prst="rect">
            <a:avLst/>
          </a:prstGeom>
          <a:noFill/>
        </p:spPr>
        <p:txBody>
          <a:bodyPr wrap="square" lIns="0" tIns="0" rIns="0" bIns="0">
            <a:spAutoFit/>
          </a:bodyPr>
          <a:lstStyle/>
          <a:p>
            <a:pPr algn="r">
              <a:defRPr sz="1050" b="1">
                <a:solidFill>
                  <a:srgbClr val="0D9488"/>
                </a:solidFill>
                <a:latin typeface="Segoe UI"/>
              </a:defRPr>
            </a:pPr>
            <a:r>
              <a:t>THỰC HÀNH 1: PROBLEM STATEMENT → USER NEEDS</a:t>
            </a:r>
          </a:p>
        </p:txBody>
      </p:sp>
      <p:sp>
        <p:nvSpPr>
          <p:cNvPr id="5" name="Rectangle 4"/>
          <p:cNvSpPr/>
          <p:nvPr/>
        </p:nvSpPr>
        <p:spPr>
          <a:xfrm>
            <a:off x="731520" y="6446520"/>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4572000" cy="274320"/>
          </a:xfrm>
          <a:prstGeom prst="rect">
            <a:avLst/>
          </a:prstGeom>
          <a:noFill/>
        </p:spPr>
        <p:txBody>
          <a:bodyPr wrap="none" lIns="0" tIns="0" rIns="0" bIns="0">
            <a:spAutoFit/>
          </a:bodyPr>
          <a:lstStyle/>
          <a:p>
            <a:pPr>
              <a:defRPr sz="950">
                <a:solidFill>
                  <a:srgbClr val="64748B"/>
                </a:solidFill>
                <a:latin typeface="Segoe UI"/>
              </a:defRPr>
            </a:pPr>
            <a:r>
              <a:t>IT3120 - Phân tích &amp; Thiết kế Hệ thống | SOICT - ĐHBK Hà Nội</a:t>
            </a:r>
          </a:p>
        </p:txBody>
      </p:sp>
      <p:sp>
        <p:nvSpPr>
          <p:cNvPr id="7" name="TextBox 6"/>
          <p:cNvSpPr txBox="1"/>
          <p:nvPr/>
        </p:nvSpPr>
        <p:spPr>
          <a:xfrm>
            <a:off x="4572000" y="6492240"/>
            <a:ext cx="4572000" cy="274320"/>
          </a:xfrm>
          <a:prstGeom prst="rect">
            <a:avLst/>
          </a:prstGeom>
          <a:noFill/>
        </p:spPr>
        <p:txBody>
          <a:bodyPr wrap="none" lIns="0" tIns="0" rIns="0" bIns="0">
            <a:spAutoFit/>
          </a:bodyPr>
          <a:lstStyle/>
          <a:p>
            <a:pPr algn="ctr">
              <a:defRPr sz="950">
                <a:solidFill>
                  <a:srgbClr val="64748B"/>
                </a:solidFill>
                <a:latin typeface="Segoe UI"/>
              </a:defRPr>
            </a:pPr>
            <a:r>
              <a:t>Đề tài: Hệ thống Quản lý Đào tạo Đại học theo Học chế Tín chỉ</a:t>
            </a:r>
          </a:p>
        </p:txBody>
      </p:sp>
      <p:sp>
        <p:nvSpPr>
          <p:cNvPr id="8" name="TextBox 7"/>
          <p:cNvSpPr txBox="1"/>
          <p:nvPr/>
        </p:nvSpPr>
        <p:spPr>
          <a:xfrm>
            <a:off x="9631375" y="6492240"/>
            <a:ext cx="1828800" cy="274320"/>
          </a:xfrm>
          <a:prstGeom prst="rect">
            <a:avLst/>
          </a:prstGeom>
          <a:noFill/>
        </p:spPr>
        <p:txBody>
          <a:bodyPr wrap="none" lIns="0" tIns="0" rIns="0" bIns="0">
            <a:spAutoFit/>
          </a:bodyPr>
          <a:lstStyle/>
          <a:p>
            <a:pPr algn="r">
              <a:defRPr sz="950" b="1">
                <a:solidFill>
                  <a:srgbClr val="0F2B48"/>
                </a:solidFill>
                <a:latin typeface="Segoe UI"/>
              </a:defRPr>
            </a:pPr>
            <a:r>
              <a:t>Slide 3 / 8</a:t>
            </a:r>
          </a:p>
        </p:txBody>
      </p:sp>
      <p:sp>
        <p:nvSpPr>
          <p:cNvPr id="9" name="Rounded Rectangle 8"/>
          <p:cNvSpPr/>
          <p:nvPr/>
        </p:nvSpPr>
        <p:spPr>
          <a:xfrm>
            <a:off x="731520" y="1051560"/>
            <a:ext cx="10728655" cy="111556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051560"/>
            <a:ext cx="64008" cy="11155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124712"/>
            <a:ext cx="10241280" cy="969264"/>
          </a:xfrm>
          <a:prstGeom prst="rect">
            <a:avLst/>
          </a:prstGeom>
          <a:noFill/>
        </p:spPr>
        <p:txBody>
          <a:bodyPr wrap="square" lIns="0" tIns="0" rIns="0" bIns="0">
            <a:spAutoFit/>
          </a:bodyPr>
          <a:lstStyle/>
          <a:p>
            <a:pPr>
              <a:defRPr sz="1100" b="1">
                <a:solidFill>
                  <a:srgbClr val="2563EB"/>
                </a:solidFill>
                <a:latin typeface="Segoe UI"/>
              </a:defRPr>
            </a:pPr>
            <a:r>
              <a:t>1. SINH VIÊN CHÍNH QUY (THÀNH VIÊN A - PHÂN HỆ REG)</a:t>
            </a:r>
          </a:p>
          <a:p>
            <a:pPr>
              <a:spcBef>
                <a:spcPts val="200"/>
              </a:spcBef>
              <a:defRPr sz="1050" b="1">
                <a:solidFill>
                  <a:srgbClr val="1E293B"/>
                </a:solidFill>
                <a:latin typeface="Segoe UI"/>
              </a:defRPr>
            </a:pPr>
            <a:r>
              <a:t>• Nhu cầu (User Need): Chủ động lập kế hoạch học tập, chọn lớp và giữ chỗ kịp thời các học phần cốt lõi theo đúng tiến độ ra trường mà không bị xung đột lịch học.</a:t>
            </a:r>
          </a:p>
          <a:p>
            <a:pPr>
              <a:spcBef>
                <a:spcPts val="200"/>
              </a:spcBef>
              <a:defRPr sz="1000">
                <a:solidFill>
                  <a:srgbClr val="64748B"/>
                </a:solidFill>
                <a:latin typeface="Segoe UI"/>
              </a:defRPr>
            </a:pPr>
            <a:r>
              <a:t>• Bối cảnh &amp; Trở ngại: Cổng mở định kỳ với 35.000 SV truy cập đồng thời; lớp hết chỗ tức thì; hệ thống thiếu cảnh báo tiên quyết và không cho giữ chỗ tạm.</a:t>
            </a:r>
          </a:p>
        </p:txBody>
      </p:sp>
      <p:sp>
        <p:nvSpPr>
          <p:cNvPr id="12" name="Rounded Rectangle 11"/>
          <p:cNvSpPr/>
          <p:nvPr/>
        </p:nvSpPr>
        <p:spPr>
          <a:xfrm>
            <a:off x="731520" y="2276856"/>
            <a:ext cx="10728655" cy="111556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2276856"/>
            <a:ext cx="64008" cy="1115568"/>
          </a:xfrm>
          <a:prstGeom prst="rect">
            <a:avLst/>
          </a:prstGeom>
          <a:solidFill>
            <a:srgbClr val="C262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2350008"/>
            <a:ext cx="10241280" cy="969264"/>
          </a:xfrm>
          <a:prstGeom prst="rect">
            <a:avLst/>
          </a:prstGeom>
          <a:noFill/>
        </p:spPr>
        <p:txBody>
          <a:bodyPr wrap="square" lIns="0" tIns="0" rIns="0" bIns="0">
            <a:spAutoFit/>
          </a:bodyPr>
          <a:lstStyle/>
          <a:p>
            <a:pPr>
              <a:defRPr sz="1100" b="1">
                <a:solidFill>
                  <a:srgbClr val="C2620E"/>
                </a:solidFill>
                <a:latin typeface="Segoe UI"/>
              </a:defRPr>
            </a:pPr>
            <a:r>
              <a:t>2. GIẢNG VIÊN GIẢNG DẠY (THÀNH VIÊN B - PHÂN HỆ GRD)</a:t>
            </a:r>
          </a:p>
          <a:p>
            <a:pPr>
              <a:spcBef>
                <a:spcPts val="200"/>
              </a:spcBef>
              <a:defRPr sz="1050" b="1">
                <a:solidFill>
                  <a:srgbClr val="1E293B"/>
                </a:solidFill>
                <a:latin typeface="Segoe UI"/>
              </a:defRPr>
            </a:pPr>
            <a:r>
              <a:t>• Nhu cầu (User Need): Nắm bắt thông tin lớp giảng dạy, ghi nhận và công bố kết quả đánh giá sinh viên tập trung, tự động hóa tính điểm theo đề cương môn học.</a:t>
            </a:r>
          </a:p>
          <a:p>
            <a:pPr>
              <a:spcBef>
                <a:spcPts val="200"/>
              </a:spcBef>
              <a:defRPr sz="1000">
                <a:solidFill>
                  <a:srgbClr val="64748B"/>
                </a:solidFill>
                <a:latin typeface="Segoe UI"/>
              </a:defRPr>
            </a:pPr>
            <a:r>
              <a:t>• Bối cảnh &amp; Trở ngại: Sĩ số lớp đông từ nhiều khóa/ngành; công cụ quản lý điểm rời rạc; nhập điểm thủ công dễ sai lệch công thức trọng số hoặc mất mạng.</a:t>
            </a:r>
          </a:p>
        </p:txBody>
      </p:sp>
      <p:sp>
        <p:nvSpPr>
          <p:cNvPr id="15" name="Rounded Rectangle 14"/>
          <p:cNvSpPr/>
          <p:nvPr/>
        </p:nvSpPr>
        <p:spPr>
          <a:xfrm>
            <a:off x="731520" y="3502152"/>
            <a:ext cx="10728655" cy="111556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502152"/>
            <a:ext cx="64008" cy="11155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575304"/>
            <a:ext cx="10241280" cy="969264"/>
          </a:xfrm>
          <a:prstGeom prst="rect">
            <a:avLst/>
          </a:prstGeom>
          <a:noFill/>
        </p:spPr>
        <p:txBody>
          <a:bodyPr wrap="square" lIns="0" tIns="0" rIns="0" bIns="0">
            <a:spAutoFit/>
          </a:bodyPr>
          <a:lstStyle/>
          <a:p>
            <a:pPr>
              <a:defRPr sz="1100" b="1">
                <a:solidFill>
                  <a:srgbClr val="0D9488"/>
                </a:solidFill>
                <a:latin typeface="Segoe UI"/>
              </a:defRPr>
            </a:pPr>
            <a:r>
              <a:t>3. CÁN BỘ PHÒNG ĐÀO TẠO (THÀNH VIÊN C - PHÂN HỆ CUR/SCH)</a:t>
            </a:r>
          </a:p>
          <a:p>
            <a:pPr>
              <a:spcBef>
                <a:spcPts val="200"/>
              </a:spcBef>
              <a:defRPr sz="1050" b="1">
                <a:solidFill>
                  <a:srgbClr val="1E293B"/>
                </a:solidFill>
                <a:latin typeface="Segoe UI"/>
              </a:defRPr>
            </a:pPr>
            <a:r>
              <a:t>• Nhu cầu (User Need): Quy hoạch kế hoạch mở lớp, điều phối phòng học và kiểm soát tiến độ học vụ toàn trường trên một nguồn dữ liệu thống nhất.</a:t>
            </a:r>
          </a:p>
          <a:p>
            <a:pPr>
              <a:spcBef>
                <a:spcPts val="200"/>
              </a:spcBef>
              <a:defRPr sz="1000">
                <a:solidFill>
                  <a:srgbClr val="64748B"/>
                </a:solidFill>
                <a:latin typeface="Segoe UI"/>
              </a:defRPr>
            </a:pPr>
            <a:r>
              <a:t>• Bối cảnh &amp; Trở ngại: Khối lượng mở lớp biến động lớn; dữ liệu phân tán khiến việc rà soát điều kiện mở lớp và xử lý đơn thư khiếu nại thủ công gây quá tải.</a:t>
            </a:r>
          </a:p>
        </p:txBody>
      </p:sp>
      <p:sp>
        <p:nvSpPr>
          <p:cNvPr id="18" name="Rounded Rectangle 17"/>
          <p:cNvSpPr/>
          <p:nvPr/>
        </p:nvSpPr>
        <p:spPr>
          <a:xfrm>
            <a:off x="731520" y="4727448"/>
            <a:ext cx="10728655" cy="111556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4727448"/>
            <a:ext cx="64008" cy="11155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800600"/>
            <a:ext cx="10241280" cy="969264"/>
          </a:xfrm>
          <a:prstGeom prst="rect">
            <a:avLst/>
          </a:prstGeom>
          <a:noFill/>
        </p:spPr>
        <p:txBody>
          <a:bodyPr wrap="square" lIns="0" tIns="0" rIns="0" bIns="0">
            <a:spAutoFit/>
          </a:bodyPr>
          <a:lstStyle/>
          <a:p>
            <a:pPr>
              <a:defRPr sz="1100" b="1">
                <a:solidFill>
                  <a:srgbClr val="7C3AED"/>
                </a:solidFill>
                <a:latin typeface="Segoe UI"/>
              </a:defRPr>
            </a:pPr>
            <a:r>
              <a:t>4. CÁN BỘ PHÒNG TÀI VỤ (THÀNH VIÊN D - PHÂN HỆ REG/FIN)</a:t>
            </a:r>
          </a:p>
          <a:p>
            <a:pPr>
              <a:spcBef>
                <a:spcPts val="200"/>
              </a:spcBef>
              <a:defRPr sz="1050" b="1">
                <a:solidFill>
                  <a:srgbClr val="1E293B"/>
                </a:solidFill>
                <a:latin typeface="Segoe UI"/>
              </a:defRPr>
            </a:pPr>
            <a:r>
              <a:t>• Nhu cầu (User Need): Xác định chính xác nghĩa vụ học phí theo số tín chỉ thực và đối soát quyết toán công nợ tự động ngay sau khi đóng cổng đăng ký.</a:t>
            </a:r>
          </a:p>
          <a:p>
            <a:pPr>
              <a:spcBef>
                <a:spcPts val="200"/>
              </a:spcBef>
              <a:defRPr sz="1000">
                <a:solidFill>
                  <a:srgbClr val="64748B"/>
                </a:solidFill>
                <a:latin typeface="Segoe UI"/>
              </a:defRPr>
            </a:pPr>
            <a:r>
              <a:t>• Bối cảnh &amp; Trở ngại: Biến động rút/hủy môn liên tục đầu kỳ; đối soát sao kê thủ công tốn thời gian; chậm dòng tiền thu hồi kinh phí tái đầu tư đào tạo.</a:t>
            </a:r>
          </a:p>
        </p:txBody>
      </p:sp>
      <p:sp>
        <p:nvSpPr>
          <p:cNvPr id="21" name="Rounded Rectangle 20"/>
          <p:cNvSpPr/>
          <p:nvPr/>
        </p:nvSpPr>
        <p:spPr>
          <a:xfrm>
            <a:off x="731520" y="5897880"/>
            <a:ext cx="10728655" cy="4572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943600"/>
            <a:ext cx="10332720" cy="347472"/>
          </a:xfrm>
          <a:prstGeom prst="rect">
            <a:avLst/>
          </a:prstGeom>
          <a:noFill/>
        </p:spPr>
        <p:txBody>
          <a:bodyPr wrap="none" lIns="0" tIns="0" rIns="0" bIns="0">
            <a:spAutoFit/>
          </a:bodyPr>
          <a:lstStyle/>
          <a:p>
            <a:pPr>
              <a:defRPr sz="1050" i="1">
                <a:solidFill>
                  <a:srgbClr val="0F2B48"/>
                </a:solidFill>
                <a:latin typeface="Segoe UI"/>
              </a:defRPr>
            </a:pPr>
            <a:r>
              <a:t>📌 Quy chuẩn SOICT: 04 User Needs tập trung vào ĐỘNG TỪ hành động (mục tiêu con người), phân công tương ứng 4 thành viên và 4 phân hệ lớn.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2004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8686800" cy="594360"/>
          </a:xfrm>
          <a:prstGeom prst="rect">
            <a:avLst/>
          </a:prstGeom>
          <a:noFill/>
        </p:spPr>
        <p:txBody>
          <a:bodyPr wrap="square" lIns="0" tIns="0" rIns="0" bIns="0">
            <a:spAutoFit/>
          </a:bodyPr>
          <a:lstStyle/>
          <a:p>
            <a:pPr>
              <a:defRPr sz="2000" b="1">
                <a:solidFill>
                  <a:srgbClr val="0F2B48"/>
                </a:solidFill>
                <a:latin typeface="Segoe UI"/>
              </a:defRPr>
            </a:pPr>
            <a:r>
              <a:t>3. Nhiệm vụ 3: Bằng chứng Hiện có vs. Giả định Cần kiểm chứng</a:t>
            </a:r>
          </a:p>
        </p:txBody>
      </p:sp>
      <p:sp>
        <p:nvSpPr>
          <p:cNvPr id="4" name="TextBox 3"/>
          <p:cNvSpPr txBox="1"/>
          <p:nvPr/>
        </p:nvSpPr>
        <p:spPr>
          <a:xfrm>
            <a:off x="7772400" y="411480"/>
            <a:ext cx="3687775" cy="411480"/>
          </a:xfrm>
          <a:prstGeom prst="rect">
            <a:avLst/>
          </a:prstGeom>
          <a:noFill/>
        </p:spPr>
        <p:txBody>
          <a:bodyPr wrap="square" lIns="0" tIns="0" rIns="0" bIns="0">
            <a:spAutoFit/>
          </a:bodyPr>
          <a:lstStyle/>
          <a:p>
            <a:pPr algn="r">
              <a:defRPr sz="1050" b="1">
                <a:solidFill>
                  <a:srgbClr val="0D9488"/>
                </a:solidFill>
                <a:latin typeface="Segoe UI"/>
              </a:defRPr>
            </a:pPr>
            <a:r>
              <a:t>THỰC HÀNH 1: PROBLEM STATEMENT → USER NEEDS</a:t>
            </a:r>
          </a:p>
        </p:txBody>
      </p:sp>
      <p:sp>
        <p:nvSpPr>
          <p:cNvPr id="5" name="Rectangle 4"/>
          <p:cNvSpPr/>
          <p:nvPr/>
        </p:nvSpPr>
        <p:spPr>
          <a:xfrm>
            <a:off x="731520" y="6446520"/>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4572000" cy="274320"/>
          </a:xfrm>
          <a:prstGeom prst="rect">
            <a:avLst/>
          </a:prstGeom>
          <a:noFill/>
        </p:spPr>
        <p:txBody>
          <a:bodyPr wrap="none" lIns="0" tIns="0" rIns="0" bIns="0">
            <a:spAutoFit/>
          </a:bodyPr>
          <a:lstStyle/>
          <a:p>
            <a:pPr>
              <a:defRPr sz="950">
                <a:solidFill>
                  <a:srgbClr val="64748B"/>
                </a:solidFill>
                <a:latin typeface="Segoe UI"/>
              </a:defRPr>
            </a:pPr>
            <a:r>
              <a:t>IT3120 - Phân tích &amp; Thiết kế Hệ thống | SOICT - ĐHBK Hà Nội</a:t>
            </a:r>
          </a:p>
        </p:txBody>
      </p:sp>
      <p:sp>
        <p:nvSpPr>
          <p:cNvPr id="7" name="TextBox 6"/>
          <p:cNvSpPr txBox="1"/>
          <p:nvPr/>
        </p:nvSpPr>
        <p:spPr>
          <a:xfrm>
            <a:off x="4572000" y="6492240"/>
            <a:ext cx="4572000" cy="274320"/>
          </a:xfrm>
          <a:prstGeom prst="rect">
            <a:avLst/>
          </a:prstGeom>
          <a:noFill/>
        </p:spPr>
        <p:txBody>
          <a:bodyPr wrap="none" lIns="0" tIns="0" rIns="0" bIns="0">
            <a:spAutoFit/>
          </a:bodyPr>
          <a:lstStyle/>
          <a:p>
            <a:pPr algn="ctr">
              <a:defRPr sz="950">
                <a:solidFill>
                  <a:srgbClr val="64748B"/>
                </a:solidFill>
                <a:latin typeface="Segoe UI"/>
              </a:defRPr>
            </a:pPr>
            <a:r>
              <a:t>Đề tài: Hệ thống Quản lý Đào tạo Đại học theo Học chế Tín chỉ</a:t>
            </a:r>
          </a:p>
        </p:txBody>
      </p:sp>
      <p:sp>
        <p:nvSpPr>
          <p:cNvPr id="8" name="TextBox 7"/>
          <p:cNvSpPr txBox="1"/>
          <p:nvPr/>
        </p:nvSpPr>
        <p:spPr>
          <a:xfrm>
            <a:off x="9631375" y="6492240"/>
            <a:ext cx="1828800" cy="274320"/>
          </a:xfrm>
          <a:prstGeom prst="rect">
            <a:avLst/>
          </a:prstGeom>
          <a:noFill/>
        </p:spPr>
        <p:txBody>
          <a:bodyPr wrap="none" lIns="0" tIns="0" rIns="0" bIns="0">
            <a:spAutoFit/>
          </a:bodyPr>
          <a:lstStyle/>
          <a:p>
            <a:pPr algn="r">
              <a:defRPr sz="950" b="1">
                <a:solidFill>
                  <a:srgbClr val="0F2B48"/>
                </a:solidFill>
                <a:latin typeface="Segoe UI"/>
              </a:defRPr>
            </a:pPr>
            <a:r>
              <a:t>Slide 4 / 8</a:t>
            </a:r>
          </a:p>
        </p:txBody>
      </p:sp>
      <p:sp>
        <p:nvSpPr>
          <p:cNvPr id="9" name="Rounded Rectangle 8"/>
          <p:cNvSpPr/>
          <p:nvPr/>
        </p:nvSpPr>
        <p:spPr>
          <a:xfrm>
            <a:off x="731520" y="1051560"/>
            <a:ext cx="10728655" cy="5943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051560"/>
            <a:ext cx="64008" cy="5943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115568"/>
            <a:ext cx="10241280" cy="457200"/>
          </a:xfrm>
          <a:prstGeom prst="rect">
            <a:avLst/>
          </a:prstGeom>
          <a:noFill/>
        </p:spPr>
        <p:txBody>
          <a:bodyPr wrap="none" lIns="0" tIns="0" rIns="0" bIns="0">
            <a:spAutoFit/>
          </a:bodyPr>
          <a:lstStyle/>
          <a:p>
            <a:pPr>
              <a:defRPr sz="1050" i="1">
                <a:solidFill>
                  <a:srgbClr val="0F2B48"/>
                </a:solidFill>
                <a:latin typeface="Segoe UI"/>
              </a:defRPr>
            </a:pPr>
            <a:r>
              <a:t>DẪN LUẬN GIẢNG VIÊN (Slide 15): “Hãy sử dụng dữ kiện của tình huống, không tự coi những suy đoán là sự thật. Mục tiêu của bước này là tạo ra một phát biểu đủ cụ thể để phân tích sâu hơn, nhưng vẫn mở để có thể điều chỉnh khi có bằng chứng mới.”</a:t>
            </a:r>
          </a:p>
        </p:txBody>
      </p:sp>
      <p:sp>
        <p:nvSpPr>
          <p:cNvPr id="12" name="Rounded Rectangle 11"/>
          <p:cNvSpPr/>
          <p:nvPr/>
        </p:nvSpPr>
        <p:spPr>
          <a:xfrm>
            <a:off x="731520" y="1783080"/>
            <a:ext cx="5230368" cy="44805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1783080"/>
            <a:ext cx="64008" cy="44805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947672"/>
            <a:ext cx="4910328" cy="4151376"/>
          </a:xfrm>
          <a:prstGeom prst="rect">
            <a:avLst/>
          </a:prstGeom>
          <a:noFill/>
        </p:spPr>
        <p:txBody>
          <a:bodyPr wrap="square" lIns="0" tIns="0" rIns="0" bIns="0">
            <a:spAutoFit/>
          </a:bodyPr>
          <a:lstStyle/>
          <a:p>
            <a:pPr>
              <a:defRPr sz="1300" b="1">
                <a:solidFill>
                  <a:srgbClr val="16A34A"/>
                </a:solidFill>
                <a:latin typeface="Segoe UI"/>
              </a:defRPr>
            </a:pPr>
            <a:r>
              <a:t>📁 BẰNG CHỨNG HIỆN CÓ (EVIDENCE)</a:t>
            </a:r>
          </a:p>
          <a:p>
            <a:pPr>
              <a:spcBef>
                <a:spcPts val="300"/>
              </a:spcBef>
              <a:defRPr sz="1050">
                <a:solidFill>
                  <a:srgbClr val="64748B"/>
                </a:solidFill>
                <a:latin typeface="Segoe UI"/>
              </a:defRPr>
            </a:pPr>
            <a:r>
              <a:t>Dữ kiện thực tế xác thực từ quy chế đào tạo tín chỉ Bách khoa:</a:t>
            </a:r>
          </a:p>
          <a:p>
            <a:pPr>
              <a:spcBef>
                <a:spcPts val="1000"/>
              </a:spcBef>
              <a:defRPr sz="1150" b="1">
                <a:solidFill>
                  <a:srgbClr val="0F2B48"/>
                </a:solidFill>
                <a:latin typeface="Segoe UI"/>
              </a:defRPr>
            </a:pPr>
            <a:r>
              <a:t>✔ Cơ chế quản lý theo học phần độc lập:</a:t>
            </a:r>
          </a:p>
          <a:p>
            <a:pPr>
              <a:spcBef>
                <a:spcPts val="200"/>
              </a:spcBef>
              <a:defRPr sz="1050">
                <a:solidFill>
                  <a:srgbClr val="1E293B"/>
                </a:solidFill>
                <a:latin typeface="Segoe UI"/>
              </a:defRPr>
            </a:pPr>
            <a:r>
              <a:t>Mọi hoạt động đào tạo đều gắn với học phần. Mỗi học phần có điều kiện tiên quyết, sĩ số giới hạn và số tín chỉ quy định chặt chẽ.</a:t>
            </a:r>
          </a:p>
          <a:p>
            <a:pPr>
              <a:spcBef>
                <a:spcPts val="1000"/>
              </a:spcBef>
              <a:defRPr sz="1150" b="1">
                <a:solidFill>
                  <a:srgbClr val="0F2B48"/>
                </a:solidFill>
                <a:latin typeface="Segoe UI"/>
              </a:defRPr>
            </a:pPr>
            <a:r>
              <a:t>✔ Chuỗi quan hệ nhân quả khép kín:</a:t>
            </a:r>
          </a:p>
          <a:p>
            <a:pPr>
              <a:spcBef>
                <a:spcPts val="200"/>
              </a:spcBef>
              <a:defRPr sz="1050">
                <a:solidFill>
                  <a:srgbClr val="1E293B"/>
                </a:solidFill>
                <a:latin typeface="Segoe UI"/>
              </a:defRPr>
            </a:pPr>
            <a:r>
              <a:t>Kế hoạch mở lớp của PĐT $\rightarrow$ Đăng ký môn của Sinh viên $\rightarrow$ Nhập điểm của Giảng viên $\rightarrow$ Tính học phí &amp; xét học vụ của Tài vụ/PĐT.</a:t>
            </a:r>
          </a:p>
          <a:p>
            <a:pPr>
              <a:spcBef>
                <a:spcPts val="1000"/>
              </a:spcBef>
              <a:defRPr sz="1150" b="1">
                <a:solidFill>
                  <a:srgbClr val="0F2B48"/>
                </a:solidFill>
                <a:latin typeface="Segoe UI"/>
              </a:defRPr>
            </a:pPr>
            <a:r>
              <a:t>✔ Tính pháp lý bắt buộc của Quy chế:</a:t>
            </a:r>
          </a:p>
          <a:p>
            <a:pPr>
              <a:spcBef>
                <a:spcPts val="200"/>
              </a:spcBef>
              <a:defRPr sz="1050">
                <a:solidFill>
                  <a:srgbClr val="1E293B"/>
                </a:solidFill>
                <a:latin typeface="Segoe UI"/>
              </a:defRPr>
            </a:pPr>
            <a:r>
              <a:t>Mọi quy trình xét tốt nghiệp, cấp học bổng hay cảnh báo học vụ đều dựa trên dữ liệu tích lũy chính xác và phải tuân thủ Quy chế đào tạo chính thức.</a:t>
            </a:r>
          </a:p>
        </p:txBody>
      </p:sp>
      <p:sp>
        <p:nvSpPr>
          <p:cNvPr id="15" name="Rounded Rectangle 14"/>
          <p:cNvSpPr/>
          <p:nvPr/>
        </p:nvSpPr>
        <p:spPr>
          <a:xfrm>
            <a:off x="6227064" y="1783080"/>
            <a:ext cx="5230368" cy="44805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27064" y="1783080"/>
            <a:ext cx="64008" cy="4480560"/>
          </a:xfrm>
          <a:prstGeom prst="rect">
            <a:avLst/>
          </a:prstGeom>
          <a:solidFill>
            <a:srgbClr val="C262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1947672"/>
            <a:ext cx="4910328" cy="4151376"/>
          </a:xfrm>
          <a:prstGeom prst="rect">
            <a:avLst/>
          </a:prstGeom>
          <a:noFill/>
        </p:spPr>
        <p:txBody>
          <a:bodyPr wrap="square" lIns="0" tIns="0" rIns="0" bIns="0">
            <a:spAutoFit/>
          </a:bodyPr>
          <a:lstStyle/>
          <a:p>
            <a:pPr>
              <a:defRPr sz="1300" b="1">
                <a:solidFill>
                  <a:srgbClr val="C2620E"/>
                </a:solidFill>
                <a:latin typeface="Segoe UI"/>
              </a:defRPr>
            </a:pPr>
            <a:r>
              <a:t>❓ GIẢ ĐỊNH CẦN KIỂM CHỨNG (ASSUMPTIONS)</a:t>
            </a:r>
          </a:p>
          <a:p>
            <a:pPr>
              <a:spcBef>
                <a:spcPts val="300"/>
              </a:spcBef>
              <a:defRPr sz="1050">
                <a:solidFill>
                  <a:srgbClr val="64748B"/>
                </a:solidFill>
                <a:latin typeface="Segoe UI"/>
              </a:defRPr>
            </a:pPr>
            <a:r>
              <a:t>Các giả thuyết nghiên cứu cần tiếp tục khảo sát người dùng thực tế:</a:t>
            </a:r>
          </a:p>
          <a:p>
            <a:pPr>
              <a:spcBef>
                <a:spcPts val="1000"/>
              </a:spcBef>
              <a:defRPr sz="1150" b="1">
                <a:solidFill>
                  <a:srgbClr val="0F2B48"/>
                </a:solidFill>
                <a:latin typeface="Segoe UI"/>
              </a:defRPr>
            </a:pPr>
            <a:r>
              <a:t>❓ Giả định 1 (Rào cản lớn nhất của SV):</a:t>
            </a:r>
          </a:p>
          <a:p>
            <a:pPr>
              <a:spcBef>
                <a:spcPts val="200"/>
              </a:spcBef>
              <a:defRPr sz="1050">
                <a:solidFill>
                  <a:srgbClr val="1E293B"/>
                </a:solidFill>
                <a:latin typeface="Segoe UI"/>
              </a:defRPr>
            </a:pPr>
            <a:r>
              <a:t>Khó khăn chính của sinh viên hiện nay nằm ở khâu 'tiếp cận và hiểu đúng quy chế học vụ' hay nằm ở khâu 'thao tác đăng ký và tranh suất khi nghẽn mạng'?</a:t>
            </a:r>
          </a:p>
          <a:p>
            <a:pPr>
              <a:spcBef>
                <a:spcPts val="1000"/>
              </a:spcBef>
              <a:defRPr sz="1150" b="1">
                <a:solidFill>
                  <a:srgbClr val="0F2B48"/>
                </a:solidFill>
                <a:latin typeface="Segoe UI"/>
              </a:defRPr>
            </a:pPr>
            <a:r>
              <a:t>❓ Giả định 2 (Điểm nghẽn thời gian của GV/PĐT):</a:t>
            </a:r>
          </a:p>
          <a:p>
            <a:pPr>
              <a:spcBef>
                <a:spcPts val="200"/>
              </a:spcBef>
              <a:defRPr sz="1050">
                <a:solidFill>
                  <a:srgbClr val="1E293B"/>
                </a:solidFill>
                <a:latin typeface="Segoe UI"/>
              </a:defRPr>
            </a:pPr>
            <a:r>
              <a:t>Giảng viên và Cán bộ đào tạo đang tốn nhiều thời gian nhất ở công đoạn nào trong kỳ học (mở lớp, nhập điểm, hay xử lý ngoại lệ/phúc khảo)?</a:t>
            </a:r>
          </a:p>
          <a:p>
            <a:pPr>
              <a:spcBef>
                <a:spcPts val="1000"/>
              </a:spcBef>
              <a:defRPr sz="1150" b="1">
                <a:solidFill>
                  <a:srgbClr val="0F2B48"/>
                </a:solidFill>
                <a:latin typeface="Segoe UI"/>
              </a:defRPr>
            </a:pPr>
            <a:r>
              <a:t>❓ Giả định 3 (Nhu cầu minh bạch học phí):</a:t>
            </a:r>
          </a:p>
          <a:p>
            <a:pPr>
              <a:spcBef>
                <a:spcPts val="200"/>
              </a:spcBef>
              <a:defRPr sz="1050">
                <a:solidFill>
                  <a:srgbClr val="1E293B"/>
                </a:solidFill>
                <a:latin typeface="Segoe UI"/>
              </a:defRPr>
            </a:pPr>
            <a:r>
              <a:t>Sinh viên có thực sự cần biết số tiền học phí tạm tính ngay trong lúc chọn môn hay chỉ quan tâm khi phòng Tài vụ xuất hóa đơn chốt đợt?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2004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8686800" cy="594360"/>
          </a:xfrm>
          <a:prstGeom prst="rect">
            <a:avLst/>
          </a:prstGeom>
          <a:noFill/>
        </p:spPr>
        <p:txBody>
          <a:bodyPr wrap="square" lIns="0" tIns="0" rIns="0" bIns="0">
            <a:spAutoFit/>
          </a:bodyPr>
          <a:lstStyle/>
          <a:p>
            <a:pPr>
              <a:defRPr sz="2000" b="1">
                <a:solidFill>
                  <a:srgbClr val="0F2B48"/>
                </a:solidFill>
                <a:latin typeface="Segoe UI"/>
              </a:defRPr>
            </a:pPr>
            <a:r>
              <a:t>4. Nhiệm vụ 4: Chọn Nhu cầu Ưu tiên để Làm Sâu</a:t>
            </a:r>
          </a:p>
        </p:txBody>
      </p:sp>
      <p:sp>
        <p:nvSpPr>
          <p:cNvPr id="4" name="TextBox 3"/>
          <p:cNvSpPr txBox="1"/>
          <p:nvPr/>
        </p:nvSpPr>
        <p:spPr>
          <a:xfrm>
            <a:off x="7772400" y="411480"/>
            <a:ext cx="3687775" cy="411480"/>
          </a:xfrm>
          <a:prstGeom prst="rect">
            <a:avLst/>
          </a:prstGeom>
          <a:noFill/>
        </p:spPr>
        <p:txBody>
          <a:bodyPr wrap="square" lIns="0" tIns="0" rIns="0" bIns="0">
            <a:spAutoFit/>
          </a:bodyPr>
          <a:lstStyle/>
          <a:p>
            <a:pPr algn="r">
              <a:defRPr sz="1050" b="1">
                <a:solidFill>
                  <a:srgbClr val="0D9488"/>
                </a:solidFill>
                <a:latin typeface="Segoe UI"/>
              </a:defRPr>
            </a:pPr>
            <a:r>
              <a:t>THỰC HÀNH 1: PROBLEM STATEMENT → USER NEEDS</a:t>
            </a:r>
          </a:p>
        </p:txBody>
      </p:sp>
      <p:sp>
        <p:nvSpPr>
          <p:cNvPr id="5" name="Rectangle 4"/>
          <p:cNvSpPr/>
          <p:nvPr/>
        </p:nvSpPr>
        <p:spPr>
          <a:xfrm>
            <a:off x="731520" y="6446520"/>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4572000" cy="274320"/>
          </a:xfrm>
          <a:prstGeom prst="rect">
            <a:avLst/>
          </a:prstGeom>
          <a:noFill/>
        </p:spPr>
        <p:txBody>
          <a:bodyPr wrap="none" lIns="0" tIns="0" rIns="0" bIns="0">
            <a:spAutoFit/>
          </a:bodyPr>
          <a:lstStyle/>
          <a:p>
            <a:pPr>
              <a:defRPr sz="950">
                <a:solidFill>
                  <a:srgbClr val="64748B"/>
                </a:solidFill>
                <a:latin typeface="Segoe UI"/>
              </a:defRPr>
            </a:pPr>
            <a:r>
              <a:t>IT3120 - Phân tích &amp; Thiết kế Hệ thống | SOICT - ĐHBK Hà Nội</a:t>
            </a:r>
          </a:p>
        </p:txBody>
      </p:sp>
      <p:sp>
        <p:nvSpPr>
          <p:cNvPr id="7" name="TextBox 6"/>
          <p:cNvSpPr txBox="1"/>
          <p:nvPr/>
        </p:nvSpPr>
        <p:spPr>
          <a:xfrm>
            <a:off x="4572000" y="6492240"/>
            <a:ext cx="4572000" cy="274320"/>
          </a:xfrm>
          <a:prstGeom prst="rect">
            <a:avLst/>
          </a:prstGeom>
          <a:noFill/>
        </p:spPr>
        <p:txBody>
          <a:bodyPr wrap="none" lIns="0" tIns="0" rIns="0" bIns="0">
            <a:spAutoFit/>
          </a:bodyPr>
          <a:lstStyle/>
          <a:p>
            <a:pPr algn="ctr">
              <a:defRPr sz="950">
                <a:solidFill>
                  <a:srgbClr val="64748B"/>
                </a:solidFill>
                <a:latin typeface="Segoe UI"/>
              </a:defRPr>
            </a:pPr>
            <a:r>
              <a:t>Đề tài: Hệ thống Quản lý Đào tạo Đại học theo Học chế Tín chỉ</a:t>
            </a:r>
          </a:p>
        </p:txBody>
      </p:sp>
      <p:sp>
        <p:nvSpPr>
          <p:cNvPr id="8" name="TextBox 7"/>
          <p:cNvSpPr txBox="1"/>
          <p:nvPr/>
        </p:nvSpPr>
        <p:spPr>
          <a:xfrm>
            <a:off x="9631375" y="6492240"/>
            <a:ext cx="1828800" cy="274320"/>
          </a:xfrm>
          <a:prstGeom prst="rect">
            <a:avLst/>
          </a:prstGeom>
          <a:noFill/>
        </p:spPr>
        <p:txBody>
          <a:bodyPr wrap="none" lIns="0" tIns="0" rIns="0" bIns="0">
            <a:spAutoFit/>
          </a:bodyPr>
          <a:lstStyle/>
          <a:p>
            <a:pPr algn="r">
              <a:defRPr sz="950" b="1">
                <a:solidFill>
                  <a:srgbClr val="0F2B48"/>
                </a:solidFill>
                <a:latin typeface="Segoe UI"/>
              </a:defRPr>
            </a:pPr>
            <a:r>
              <a:t>Slide 5 / 8</a:t>
            </a:r>
          </a:p>
        </p:txBody>
      </p:sp>
      <p:sp>
        <p:nvSpPr>
          <p:cNvPr id="9" name="TextBox 8"/>
          <p:cNvSpPr txBox="1"/>
          <p:nvPr/>
        </p:nvSpPr>
        <p:spPr>
          <a:xfrm>
            <a:off x="731520" y="1051560"/>
            <a:ext cx="10728655" cy="365760"/>
          </a:xfrm>
          <a:prstGeom prst="rect">
            <a:avLst/>
          </a:prstGeom>
          <a:noFill/>
        </p:spPr>
        <p:txBody>
          <a:bodyPr wrap="none" lIns="0" tIns="0" rIns="0" bIns="0">
            <a:spAutoFit/>
          </a:bodyPr>
          <a:lstStyle/>
          <a:p>
            <a:pPr>
              <a:defRPr sz="1150">
                <a:solidFill>
                  <a:srgbClr val="64748B"/>
                </a:solidFill>
                <a:latin typeface="Segoe UI"/>
              </a:defRPr>
            </a:pPr>
            <a:r>
              <a:t>Quyết định chiến lược của nhóm: Chọn 01 Nhu cầu cốt lõi nhất làm tâm điểm đào sâu xuyên suốt chuỗi TH2 → TH5:</a:t>
            </a:r>
          </a:p>
        </p:txBody>
      </p:sp>
      <p:sp>
        <p:nvSpPr>
          <p:cNvPr id="10" name="Rounded Rectangle 9"/>
          <p:cNvSpPr/>
          <p:nvPr/>
        </p:nvSpPr>
        <p:spPr>
          <a:xfrm>
            <a:off x="731520" y="1463040"/>
            <a:ext cx="10728655" cy="1828800"/>
          </a:xfrm>
          <a:prstGeom prst="roundRect">
            <a:avLst/>
          </a:prstGeom>
          <a:solidFill>
            <a:srgbClr val="F0F9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600200"/>
            <a:ext cx="9997135" cy="1554480"/>
          </a:xfrm>
          <a:prstGeom prst="rect">
            <a:avLst/>
          </a:prstGeom>
          <a:noFill/>
        </p:spPr>
        <p:txBody>
          <a:bodyPr wrap="square" lIns="0" tIns="0" rIns="0" bIns="0">
            <a:spAutoFit/>
          </a:bodyPr>
          <a:lstStyle/>
          <a:p>
            <a:pPr algn="ctr">
              <a:defRPr sz="1200" b="1">
                <a:solidFill>
                  <a:srgbClr val="2563EB"/>
                </a:solidFill>
                <a:latin typeface="Segoe UI"/>
              </a:defRPr>
            </a:pPr>
            <a:r>
              <a:t>★ NHU CẦU ƯU TIÊN ĐƯỢC CHỌN ĐÀO SÂU (PRIORITY USER NEED) ★</a:t>
            </a:r>
          </a:p>
          <a:p>
            <a:pPr algn="ctr">
              <a:spcBef>
                <a:spcPts val="600"/>
              </a:spcBef>
              <a:defRPr sz="1900" b="1">
                <a:solidFill>
                  <a:srgbClr val="0F2B48"/>
                </a:solidFill>
                <a:latin typeface="Segoe UI"/>
              </a:defRPr>
            </a:pPr>
            <a:r>
              <a:t>“Nhu cầu của Sinh viên: Chủ động lập kế hoạch học tập, chọn lớp và giữ chỗ kịp thời các học phần cốt lõi theo đúng tiến độ ra trường.”</a:t>
            </a:r>
          </a:p>
          <a:p>
            <a:pPr algn="ctr">
              <a:spcBef>
                <a:spcPts val="400"/>
              </a:spcBef>
              <a:defRPr sz="1100">
                <a:solidFill>
                  <a:srgbClr val="64748B"/>
                </a:solidFill>
                <a:latin typeface="Segoe UI"/>
              </a:defRPr>
            </a:pPr>
            <a:r>
              <a:t>(Đại diện phân hệ Đăng ký học phần REG &amp; Lớp học SCH — Trách nhiệm phối hợp: Thành viên A &amp; Cả nhóm)</a:t>
            </a:r>
          </a:p>
        </p:txBody>
      </p:sp>
      <p:sp>
        <p:nvSpPr>
          <p:cNvPr id="12" name="Rounded Rectangle 11"/>
          <p:cNvSpPr/>
          <p:nvPr/>
        </p:nvSpPr>
        <p:spPr>
          <a:xfrm>
            <a:off x="731520" y="3474720"/>
            <a:ext cx="3429000" cy="27432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474720"/>
            <a:ext cx="64008" cy="27432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639312"/>
            <a:ext cx="3108960" cy="2414016"/>
          </a:xfrm>
          <a:prstGeom prst="rect">
            <a:avLst/>
          </a:prstGeom>
          <a:noFill/>
        </p:spPr>
        <p:txBody>
          <a:bodyPr wrap="square" lIns="0" tIns="0" rIns="0" bIns="0">
            <a:spAutoFit/>
          </a:bodyPr>
          <a:lstStyle/>
          <a:p>
            <a:pPr>
              <a:defRPr sz="1250" b="1">
                <a:solidFill>
                  <a:srgbClr val="2563EB"/>
                </a:solidFill>
                <a:latin typeface="Segoe UI"/>
              </a:defRPr>
            </a:pPr>
            <a:r>
              <a:t>1. 'Tử huyệt' của toàn chuỗi</a:t>
            </a:r>
          </a:p>
          <a:p>
            <a:pPr>
              <a:spcBef>
                <a:spcPts val="500"/>
              </a:spcBef>
              <a:defRPr sz="1050" b="1">
                <a:solidFill>
                  <a:srgbClr val="0F2B48"/>
                </a:solidFill>
                <a:latin typeface="Segoe UI"/>
              </a:defRPr>
            </a:pPr>
            <a:r>
              <a:t>Mắt xích kích hoạt mọi hoạt động học vụ tiếp theo:</a:t>
            </a:r>
          </a:p>
          <a:p>
            <a:pPr>
              <a:spcBef>
                <a:spcPts val="400"/>
              </a:spcBef>
              <a:defRPr sz="1050">
                <a:solidFill>
                  <a:srgbClr val="1E293B"/>
                </a:solidFill>
                <a:latin typeface="Segoe UI"/>
              </a:defRPr>
            </a:pPr>
            <a:r>
              <a:t>• Nếu SV không đăng ký được môn, GV không có lớp dạy.</a:t>
            </a:r>
          </a:p>
          <a:p>
            <a:pPr>
              <a:spcBef>
                <a:spcPts val="400"/>
              </a:spcBef>
              <a:defRPr sz="1050">
                <a:solidFill>
                  <a:srgbClr val="1E293B"/>
                </a:solidFill>
                <a:latin typeface="Segoe UI"/>
              </a:defRPr>
            </a:pPr>
            <a:r>
              <a:t>• PĐT bị vỡ kế hoạch điều phối giảng đường và TKB.</a:t>
            </a:r>
          </a:p>
          <a:p>
            <a:pPr>
              <a:spcBef>
                <a:spcPts val="400"/>
              </a:spcBef>
              <a:defRPr sz="1050">
                <a:solidFill>
                  <a:srgbClr val="1E293B"/>
                </a:solidFill>
                <a:latin typeface="Segoe UI"/>
              </a:defRPr>
            </a:pPr>
            <a:r>
              <a:t>• Phòng Tài vụ không có căn cứ xác định nguồn thu học phí.</a:t>
            </a:r>
          </a:p>
        </p:txBody>
      </p:sp>
      <p:sp>
        <p:nvSpPr>
          <p:cNvPr id="15" name="Rounded Rectangle 14"/>
          <p:cNvSpPr/>
          <p:nvPr/>
        </p:nvSpPr>
        <p:spPr>
          <a:xfrm>
            <a:off x="4379976" y="3474720"/>
            <a:ext cx="3429000" cy="27432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79976" y="3474720"/>
            <a:ext cx="64008" cy="2743200"/>
          </a:xfrm>
          <a:prstGeom prst="rect">
            <a:avLst/>
          </a:prstGeom>
          <a:solidFill>
            <a:srgbClr val="C262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2856" y="3639312"/>
            <a:ext cx="3108960" cy="2414016"/>
          </a:xfrm>
          <a:prstGeom prst="rect">
            <a:avLst/>
          </a:prstGeom>
          <a:noFill/>
        </p:spPr>
        <p:txBody>
          <a:bodyPr wrap="square" lIns="0" tIns="0" rIns="0" bIns="0">
            <a:spAutoFit/>
          </a:bodyPr>
          <a:lstStyle/>
          <a:p>
            <a:pPr>
              <a:defRPr sz="1250" b="1">
                <a:solidFill>
                  <a:srgbClr val="C2620E"/>
                </a:solidFill>
                <a:latin typeface="Segoe UI"/>
              </a:defRPr>
            </a:pPr>
            <a:r>
              <a:t>2. Nỗi đau gay gắt &amp; rủi ro cao</a:t>
            </a:r>
          </a:p>
          <a:p>
            <a:pPr>
              <a:spcBef>
                <a:spcPts val="500"/>
              </a:spcBef>
              <a:defRPr sz="1050" b="1">
                <a:solidFill>
                  <a:srgbClr val="0F2B48"/>
                </a:solidFill>
                <a:latin typeface="Segoe UI"/>
              </a:defRPr>
            </a:pPr>
            <a:r>
              <a:t>Gây hậu quả nặng nề nhất cho người học và trường:</a:t>
            </a:r>
          </a:p>
          <a:p>
            <a:pPr>
              <a:spcBef>
                <a:spcPts val="400"/>
              </a:spcBef>
              <a:defRPr sz="1050">
                <a:solidFill>
                  <a:srgbClr val="1E293B"/>
                </a:solidFill>
                <a:latin typeface="Segoe UI"/>
              </a:defRPr>
            </a:pPr>
            <a:r>
              <a:t>• Nguy cơ chậm tốt nghiệp 1 kỳ (môn mở 1 lần/năm).</a:t>
            </a:r>
          </a:p>
          <a:p>
            <a:pPr>
              <a:spcBef>
                <a:spcPts val="400"/>
              </a:spcBef>
              <a:defRPr sz="1050">
                <a:solidFill>
                  <a:srgbClr val="1E293B"/>
                </a:solidFill>
                <a:latin typeface="Segoe UI"/>
              </a:defRPr>
            </a:pPr>
            <a:r>
              <a:t>• Hàng ngàn sinh viên dồn về văn phòng PĐT nộp đơn khiếu nại.</a:t>
            </a:r>
          </a:p>
          <a:p>
            <a:pPr>
              <a:spcBef>
                <a:spcPts val="400"/>
              </a:spcBef>
              <a:defRPr sz="1050">
                <a:solidFill>
                  <a:srgbClr val="1E293B"/>
                </a:solidFill>
                <a:latin typeface="Segoe UI"/>
              </a:defRPr>
            </a:pPr>
            <a:r>
              <a:t>• Mất niềm tin vào tính công bằng và minh bạch của hệ thống.</a:t>
            </a:r>
          </a:p>
        </p:txBody>
      </p:sp>
      <p:sp>
        <p:nvSpPr>
          <p:cNvPr id="18" name="Rounded Rectangle 17"/>
          <p:cNvSpPr/>
          <p:nvPr/>
        </p:nvSpPr>
        <p:spPr>
          <a:xfrm>
            <a:off x="8028432" y="3474720"/>
            <a:ext cx="3429000" cy="27432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28432" y="3474720"/>
            <a:ext cx="64008" cy="27432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1312" y="3639312"/>
            <a:ext cx="3108960" cy="2414016"/>
          </a:xfrm>
          <a:prstGeom prst="rect">
            <a:avLst/>
          </a:prstGeom>
          <a:noFill/>
        </p:spPr>
        <p:txBody>
          <a:bodyPr wrap="square" lIns="0" tIns="0" rIns="0" bIns="0">
            <a:spAutoFit/>
          </a:bodyPr>
          <a:lstStyle/>
          <a:p>
            <a:pPr>
              <a:defRPr sz="1250" b="1">
                <a:solidFill>
                  <a:srgbClr val="16A34A"/>
                </a:solidFill>
                <a:latin typeface="Segoe UI"/>
              </a:defRPr>
            </a:pPr>
            <a:r>
              <a:t>3. Rất khả thi để làm MVP Test</a:t>
            </a:r>
          </a:p>
          <a:p>
            <a:pPr>
              <a:spcBef>
                <a:spcPts val="500"/>
              </a:spcBef>
              <a:defRPr sz="1050" b="1">
                <a:solidFill>
                  <a:srgbClr val="0F2B48"/>
                </a:solidFill>
                <a:latin typeface="Segoe UI"/>
              </a:defRPr>
            </a:pPr>
            <a:r>
              <a:t>Hoàn hảo để thiết kế thử nghiệm kiểm chứng:</a:t>
            </a:r>
          </a:p>
          <a:p>
            <a:pPr>
              <a:spcBef>
                <a:spcPts val="400"/>
              </a:spcBef>
              <a:defRPr sz="1050">
                <a:solidFill>
                  <a:srgbClr val="1E293B"/>
                </a:solidFill>
                <a:latin typeface="Segoe UI"/>
              </a:defRPr>
            </a:pPr>
            <a:r>
              <a:t>• Dễ dàng dựng bản mẫu Figma (Giỏ môn học Wishlist).</a:t>
            </a:r>
          </a:p>
          <a:p>
            <a:pPr>
              <a:spcBef>
                <a:spcPts val="400"/>
              </a:spcBef>
              <a:defRPr sz="1050">
                <a:solidFill>
                  <a:srgbClr val="1E293B"/>
                </a:solidFill>
                <a:latin typeface="Segoe UI"/>
              </a:defRPr>
            </a:pPr>
            <a:r>
              <a:t>• Dễ mời 20 sinh viên Bách khoa tham gia Usability Test.</a:t>
            </a:r>
          </a:p>
          <a:p>
            <a:pPr>
              <a:spcBef>
                <a:spcPts val="400"/>
              </a:spcBef>
              <a:defRPr sz="1050">
                <a:solidFill>
                  <a:srgbClr val="1E293B"/>
                </a:solidFill>
                <a:latin typeface="Segoe UI"/>
              </a:defRPr>
            </a:pPr>
            <a:r>
              <a:t>• Đo lường KPI khách quan (Task Completion Rate, SUS Score).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2004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8686800" cy="594360"/>
          </a:xfrm>
          <a:prstGeom prst="rect">
            <a:avLst/>
          </a:prstGeom>
          <a:noFill/>
        </p:spPr>
        <p:txBody>
          <a:bodyPr wrap="square" lIns="0" tIns="0" rIns="0" bIns="0">
            <a:spAutoFit/>
          </a:bodyPr>
          <a:lstStyle/>
          <a:p>
            <a:pPr>
              <a:defRPr sz="2000" b="1">
                <a:solidFill>
                  <a:srgbClr val="0F2B48"/>
                </a:solidFill>
                <a:latin typeface="Segoe UI"/>
              </a:defRPr>
            </a:pPr>
            <a:r>
              <a:t>5. Nhiệm vụ 5: Phát biểu Bài toán Chung nhất (Problem Statement)</a:t>
            </a:r>
          </a:p>
        </p:txBody>
      </p:sp>
      <p:sp>
        <p:nvSpPr>
          <p:cNvPr id="4" name="TextBox 3"/>
          <p:cNvSpPr txBox="1"/>
          <p:nvPr/>
        </p:nvSpPr>
        <p:spPr>
          <a:xfrm>
            <a:off x="7772400" y="411480"/>
            <a:ext cx="3687775" cy="411480"/>
          </a:xfrm>
          <a:prstGeom prst="rect">
            <a:avLst/>
          </a:prstGeom>
          <a:noFill/>
        </p:spPr>
        <p:txBody>
          <a:bodyPr wrap="square" lIns="0" tIns="0" rIns="0" bIns="0">
            <a:spAutoFit/>
          </a:bodyPr>
          <a:lstStyle/>
          <a:p>
            <a:pPr algn="r">
              <a:defRPr sz="1050" b="1">
                <a:solidFill>
                  <a:srgbClr val="0D9488"/>
                </a:solidFill>
                <a:latin typeface="Segoe UI"/>
              </a:defRPr>
            </a:pPr>
            <a:r>
              <a:t>THỰC HÀNH 1: PROBLEM STATEMENT → USER NEEDS</a:t>
            </a:r>
          </a:p>
        </p:txBody>
      </p:sp>
      <p:sp>
        <p:nvSpPr>
          <p:cNvPr id="5" name="Rectangle 4"/>
          <p:cNvSpPr/>
          <p:nvPr/>
        </p:nvSpPr>
        <p:spPr>
          <a:xfrm>
            <a:off x="731520" y="6446520"/>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4572000" cy="274320"/>
          </a:xfrm>
          <a:prstGeom prst="rect">
            <a:avLst/>
          </a:prstGeom>
          <a:noFill/>
        </p:spPr>
        <p:txBody>
          <a:bodyPr wrap="none" lIns="0" tIns="0" rIns="0" bIns="0">
            <a:spAutoFit/>
          </a:bodyPr>
          <a:lstStyle/>
          <a:p>
            <a:pPr>
              <a:defRPr sz="950">
                <a:solidFill>
                  <a:srgbClr val="64748B"/>
                </a:solidFill>
                <a:latin typeface="Segoe UI"/>
              </a:defRPr>
            </a:pPr>
            <a:r>
              <a:t>IT3120 - Phân tích &amp; Thiết kế Hệ thống | SOICT - ĐHBK Hà Nội</a:t>
            </a:r>
          </a:p>
        </p:txBody>
      </p:sp>
      <p:sp>
        <p:nvSpPr>
          <p:cNvPr id="7" name="TextBox 6"/>
          <p:cNvSpPr txBox="1"/>
          <p:nvPr/>
        </p:nvSpPr>
        <p:spPr>
          <a:xfrm>
            <a:off x="4572000" y="6492240"/>
            <a:ext cx="4572000" cy="274320"/>
          </a:xfrm>
          <a:prstGeom prst="rect">
            <a:avLst/>
          </a:prstGeom>
          <a:noFill/>
        </p:spPr>
        <p:txBody>
          <a:bodyPr wrap="none" lIns="0" tIns="0" rIns="0" bIns="0">
            <a:spAutoFit/>
          </a:bodyPr>
          <a:lstStyle/>
          <a:p>
            <a:pPr algn="ctr">
              <a:defRPr sz="950">
                <a:solidFill>
                  <a:srgbClr val="64748B"/>
                </a:solidFill>
                <a:latin typeface="Segoe UI"/>
              </a:defRPr>
            </a:pPr>
            <a:r>
              <a:t>Đề tài: Hệ thống Quản lý Đào tạo Đại học theo Học chế Tín chỉ</a:t>
            </a:r>
          </a:p>
        </p:txBody>
      </p:sp>
      <p:sp>
        <p:nvSpPr>
          <p:cNvPr id="8" name="TextBox 7"/>
          <p:cNvSpPr txBox="1"/>
          <p:nvPr/>
        </p:nvSpPr>
        <p:spPr>
          <a:xfrm>
            <a:off x="9631375" y="6492240"/>
            <a:ext cx="1828800" cy="274320"/>
          </a:xfrm>
          <a:prstGeom prst="rect">
            <a:avLst/>
          </a:prstGeom>
          <a:noFill/>
        </p:spPr>
        <p:txBody>
          <a:bodyPr wrap="none" lIns="0" tIns="0" rIns="0" bIns="0">
            <a:spAutoFit/>
          </a:bodyPr>
          <a:lstStyle/>
          <a:p>
            <a:pPr algn="r">
              <a:defRPr sz="950" b="1">
                <a:solidFill>
                  <a:srgbClr val="0F2B48"/>
                </a:solidFill>
                <a:latin typeface="Segoe UI"/>
              </a:defRPr>
            </a:pPr>
            <a:r>
              <a:t>Slide 6 / 8</a:t>
            </a:r>
          </a:p>
        </p:txBody>
      </p:sp>
      <p:sp>
        <p:nvSpPr>
          <p:cNvPr id="9" name="Rounded Rectangle 8"/>
          <p:cNvSpPr/>
          <p:nvPr/>
        </p:nvSpPr>
        <p:spPr>
          <a:xfrm>
            <a:off x="731520" y="1051560"/>
            <a:ext cx="10728655" cy="7772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051560"/>
            <a:ext cx="64008" cy="77724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115568"/>
            <a:ext cx="10241280" cy="640080"/>
          </a:xfrm>
          <a:prstGeom prst="rect">
            <a:avLst/>
          </a:prstGeom>
          <a:noFill/>
        </p:spPr>
        <p:txBody>
          <a:bodyPr wrap="square" lIns="0" tIns="0" rIns="0" bIns="0">
            <a:spAutoFit/>
          </a:bodyPr>
          <a:lstStyle/>
          <a:p>
            <a:pPr>
              <a:defRPr sz="1100" b="1">
                <a:solidFill>
                  <a:srgbClr val="0F2B48"/>
                </a:solidFill>
                <a:latin typeface="Segoe UI"/>
              </a:defRPr>
            </a:pPr>
            <a:r>
              <a:t>CÔNG THỨC PHÁT BIỂU CHUẨN MỰC (SLIDE 11):</a:t>
            </a:r>
          </a:p>
          <a:p>
            <a:pPr>
              <a:spcBef>
                <a:spcPts val="300"/>
              </a:spcBef>
              <a:defRPr sz="1150" b="1">
                <a:solidFill>
                  <a:srgbClr val="0D9488"/>
                </a:solidFill>
                <a:latin typeface="Segoe UI"/>
              </a:defRPr>
            </a:pPr>
            <a:r>
              <a:t>[Trong bối cảnh nào] + [Nhóm người dùng nào] + [Cần nhu cầu cốt lõi gì] + [Gặp trở ngại gốc rễ nào] + [Hướng tới mục tiêu giá trị gì]</a:t>
            </a:r>
          </a:p>
        </p:txBody>
      </p:sp>
      <p:sp>
        <p:nvSpPr>
          <p:cNvPr id="12" name="Rounded Rectangle 11"/>
          <p:cNvSpPr/>
          <p:nvPr/>
        </p:nvSpPr>
        <p:spPr>
          <a:xfrm>
            <a:off x="731520" y="1965960"/>
            <a:ext cx="10728655" cy="3291840"/>
          </a:xfrm>
          <a:prstGeom prst="roundRect">
            <a:avLst/>
          </a:prstGeom>
          <a:solidFill>
            <a:srgbClr val="F0F9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148840"/>
            <a:ext cx="10088575" cy="2926080"/>
          </a:xfrm>
          <a:prstGeom prst="rect">
            <a:avLst/>
          </a:prstGeom>
          <a:noFill/>
        </p:spPr>
        <p:txBody>
          <a:bodyPr wrap="square" lIns="0" tIns="0" rIns="0" bIns="0">
            <a:spAutoFit/>
          </a:bodyPr>
          <a:lstStyle/>
          <a:p>
            <a:pPr>
              <a:defRPr sz="1250" b="1">
                <a:solidFill>
                  <a:srgbClr val="0D9488"/>
                </a:solidFill>
                <a:latin typeface="Segoe UI"/>
              </a:defRPr>
            </a:pPr>
            <a:r>
              <a:t>BẢN PHÁT BIỂU VẤN ĐỀ NGƯỜI DÙNG TỔNG QUÁT (GENERAL USER PROBLEM STATEMENT):</a:t>
            </a:r>
          </a:p>
          <a:p>
            <a:pPr>
              <a:spcBef>
                <a:spcPts val="900"/>
              </a:spcBef>
              <a:defRPr sz="1500">
                <a:solidFill>
                  <a:srgbClr val="0F2B48"/>
                </a:solidFill>
                <a:latin typeface="Segoe UI"/>
              </a:defRPr>
            </a:pPr>
            <a:r>
              <a:t>“Trong môi trường giáo dục đại học vận hành theo học chế tín chỉ (Bối cảnh), sinh viên chính quy cùng với giảng viên và cán bộ quản lý (Đối tượng người dùng) cần một phương thức quản lý kế hoạch học tập và đăng ký giữ chỗ học phần xuyên suốt, minh bạch và tức thời (Nhu cầu cốt lõi), bởi vì đặc thù số lượng sinh viên truy cập cao điểm lớn trong khi thông tin lớp học và điều kiện ràng buộc bị phân tán, gây nghẽn tắc hệ thống và làm quá tải việc xử lý đơn thư thủ công (Trở ngại cốt lõi), nhằm bảo đảm sinh viên tích lũy đủ học phần đúng hạn ra trường và nâng cao hiệu quả vận hành của Nhà trường (Mục tiêu giá trị).”</a:t>
            </a:r>
          </a:p>
        </p:txBody>
      </p:sp>
      <p:sp>
        <p:nvSpPr>
          <p:cNvPr id="14" name="Rounded Rectangle 13"/>
          <p:cNvSpPr/>
          <p:nvPr/>
        </p:nvSpPr>
        <p:spPr>
          <a:xfrm>
            <a:off x="731520" y="5440680"/>
            <a:ext cx="10728655" cy="82296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532120"/>
            <a:ext cx="10241280" cy="640080"/>
          </a:xfrm>
          <a:prstGeom prst="rect">
            <a:avLst/>
          </a:prstGeom>
          <a:noFill/>
        </p:spPr>
        <p:txBody>
          <a:bodyPr wrap="square" lIns="0" tIns="0" rIns="0" bIns="0">
            <a:spAutoFit/>
          </a:bodyPr>
          <a:lstStyle/>
          <a:p>
            <a:pPr>
              <a:defRPr sz="1100" b="1">
                <a:solidFill>
                  <a:srgbClr val="16A34A"/>
                </a:solidFill>
                <a:latin typeface="Segoe UI"/>
              </a:defRPr>
            </a:pPr>
            <a:r>
              <a:t>💡 NHẬN ĐỊNH PHƯƠNG PHÁP LUẬN:</a:t>
            </a:r>
          </a:p>
          <a:p>
            <a:pPr>
              <a:spcBef>
                <a:spcPts val="200"/>
              </a:spcBef>
              <a:defRPr sz="1050">
                <a:solidFill>
                  <a:srgbClr val="1E293B"/>
                </a:solidFill>
                <a:latin typeface="Segoe UI"/>
              </a:defRPr>
            </a:pPr>
            <a:r>
              <a:t>Phát biểu trên vừa đủ cụ thể khi neo chặt vào điểm nghẽn đăng ký môn của Sinh viên, vừa đủ khái quát để duy trì tính liên thông với công tác quản trị của Giảng viên, Nhà trường và Tài vụ mà không bị 'thiên kiến giải pháp' (Solution Bias).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2004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8686800" cy="594360"/>
          </a:xfrm>
          <a:prstGeom prst="rect">
            <a:avLst/>
          </a:prstGeom>
          <a:noFill/>
        </p:spPr>
        <p:txBody>
          <a:bodyPr wrap="square" lIns="0" tIns="0" rIns="0" bIns="0">
            <a:spAutoFit/>
          </a:bodyPr>
          <a:lstStyle/>
          <a:p>
            <a:pPr>
              <a:defRPr sz="2000" b="1">
                <a:solidFill>
                  <a:srgbClr val="0F2B48"/>
                </a:solidFill>
                <a:latin typeface="Segoe UI"/>
              </a:defRPr>
            </a:pPr>
            <a:r>
              <a:t>6. Phân công Trách nhiệm Song song theo Mô hình Phễu Hội tụ</a:t>
            </a:r>
          </a:p>
        </p:txBody>
      </p:sp>
      <p:sp>
        <p:nvSpPr>
          <p:cNvPr id="4" name="TextBox 3"/>
          <p:cNvSpPr txBox="1"/>
          <p:nvPr/>
        </p:nvSpPr>
        <p:spPr>
          <a:xfrm>
            <a:off x="7772400" y="411480"/>
            <a:ext cx="3687775" cy="411480"/>
          </a:xfrm>
          <a:prstGeom prst="rect">
            <a:avLst/>
          </a:prstGeom>
          <a:noFill/>
        </p:spPr>
        <p:txBody>
          <a:bodyPr wrap="square" lIns="0" tIns="0" rIns="0" bIns="0">
            <a:spAutoFit/>
          </a:bodyPr>
          <a:lstStyle/>
          <a:p>
            <a:pPr algn="r">
              <a:defRPr sz="1050" b="1">
                <a:solidFill>
                  <a:srgbClr val="0D9488"/>
                </a:solidFill>
                <a:latin typeface="Segoe UI"/>
              </a:defRPr>
            </a:pPr>
            <a:r>
              <a:t>THỰC HÀNH 1: PROBLEM STATEMENT → USER NEEDS</a:t>
            </a:r>
          </a:p>
        </p:txBody>
      </p:sp>
      <p:sp>
        <p:nvSpPr>
          <p:cNvPr id="5" name="Rectangle 4"/>
          <p:cNvSpPr/>
          <p:nvPr/>
        </p:nvSpPr>
        <p:spPr>
          <a:xfrm>
            <a:off x="731520" y="6446520"/>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4572000" cy="274320"/>
          </a:xfrm>
          <a:prstGeom prst="rect">
            <a:avLst/>
          </a:prstGeom>
          <a:noFill/>
        </p:spPr>
        <p:txBody>
          <a:bodyPr wrap="none" lIns="0" tIns="0" rIns="0" bIns="0">
            <a:spAutoFit/>
          </a:bodyPr>
          <a:lstStyle/>
          <a:p>
            <a:pPr>
              <a:defRPr sz="950">
                <a:solidFill>
                  <a:srgbClr val="64748B"/>
                </a:solidFill>
                <a:latin typeface="Segoe UI"/>
              </a:defRPr>
            </a:pPr>
            <a:r>
              <a:t>IT3120 - Phân tích &amp; Thiết kế Hệ thống | SOICT - ĐHBK Hà Nội</a:t>
            </a:r>
          </a:p>
        </p:txBody>
      </p:sp>
      <p:sp>
        <p:nvSpPr>
          <p:cNvPr id="7" name="TextBox 6"/>
          <p:cNvSpPr txBox="1"/>
          <p:nvPr/>
        </p:nvSpPr>
        <p:spPr>
          <a:xfrm>
            <a:off x="4572000" y="6492240"/>
            <a:ext cx="4572000" cy="274320"/>
          </a:xfrm>
          <a:prstGeom prst="rect">
            <a:avLst/>
          </a:prstGeom>
          <a:noFill/>
        </p:spPr>
        <p:txBody>
          <a:bodyPr wrap="none" lIns="0" tIns="0" rIns="0" bIns="0">
            <a:spAutoFit/>
          </a:bodyPr>
          <a:lstStyle/>
          <a:p>
            <a:pPr algn="ctr">
              <a:defRPr sz="950">
                <a:solidFill>
                  <a:srgbClr val="64748B"/>
                </a:solidFill>
                <a:latin typeface="Segoe UI"/>
              </a:defRPr>
            </a:pPr>
            <a:r>
              <a:t>Đề tài: Hệ thống Quản lý Đào tạo Đại học theo Học chế Tín chỉ</a:t>
            </a:r>
          </a:p>
        </p:txBody>
      </p:sp>
      <p:sp>
        <p:nvSpPr>
          <p:cNvPr id="8" name="TextBox 7"/>
          <p:cNvSpPr txBox="1"/>
          <p:nvPr/>
        </p:nvSpPr>
        <p:spPr>
          <a:xfrm>
            <a:off x="9631375" y="6492240"/>
            <a:ext cx="1828800" cy="274320"/>
          </a:xfrm>
          <a:prstGeom prst="rect">
            <a:avLst/>
          </a:prstGeom>
          <a:noFill/>
        </p:spPr>
        <p:txBody>
          <a:bodyPr wrap="none" lIns="0" tIns="0" rIns="0" bIns="0">
            <a:spAutoFit/>
          </a:bodyPr>
          <a:lstStyle/>
          <a:p>
            <a:pPr algn="r">
              <a:defRPr sz="950" b="1">
                <a:solidFill>
                  <a:srgbClr val="0F2B48"/>
                </a:solidFill>
                <a:latin typeface="Segoe UI"/>
              </a:defRPr>
            </a:pPr>
            <a:r>
              <a:t>Slide 7 / 8</a:t>
            </a:r>
          </a:p>
        </p:txBody>
      </p:sp>
      <p:sp>
        <p:nvSpPr>
          <p:cNvPr id="9" name="Rounded Rectangle 8"/>
          <p:cNvSpPr/>
          <p:nvPr/>
        </p:nvSpPr>
        <p:spPr>
          <a:xfrm>
            <a:off x="731520" y="1051560"/>
            <a:ext cx="10728655" cy="5943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051560"/>
            <a:ext cx="64008" cy="5943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115568"/>
            <a:ext cx="10241280" cy="457200"/>
          </a:xfrm>
          <a:prstGeom prst="rect">
            <a:avLst/>
          </a:prstGeom>
          <a:noFill/>
        </p:spPr>
        <p:txBody>
          <a:bodyPr wrap="none" lIns="0" tIns="0" rIns="0" bIns="0">
            <a:spAutoFit/>
          </a:bodyPr>
          <a:lstStyle/>
          <a:p>
            <a:pPr>
              <a:defRPr sz="1050" b="1">
                <a:solidFill>
                  <a:srgbClr val="0F2B48"/>
                </a:solidFill>
                <a:latin typeface="Segoe UI"/>
              </a:defRPr>
            </a:pPr>
            <a:r>
              <a:t>MÔ HÌNH PHỄU HỘI TỤ (FUNNEL MODEL): Bảo đảm 4 thành viên làm việc song song 100% (Zero Waiting), không chồng chéo và đúng chuẩn 01 MVP của đề bài.</a:t>
            </a:r>
          </a:p>
        </p:txBody>
      </p:sp>
      <p:sp>
        <p:nvSpPr>
          <p:cNvPr id="12" name="Rounded Rectangle 11"/>
          <p:cNvSpPr/>
          <p:nvPr/>
        </p:nvSpPr>
        <p:spPr>
          <a:xfrm>
            <a:off x="731520" y="1783080"/>
            <a:ext cx="5230368" cy="44805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1783080"/>
            <a:ext cx="64008" cy="4480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947672"/>
            <a:ext cx="4910328" cy="4151376"/>
          </a:xfrm>
          <a:prstGeom prst="rect">
            <a:avLst/>
          </a:prstGeom>
          <a:noFill/>
        </p:spPr>
        <p:txBody>
          <a:bodyPr wrap="square" lIns="0" tIns="0" rIns="0" bIns="0">
            <a:spAutoFit/>
          </a:bodyPr>
          <a:lstStyle/>
          <a:p>
            <a:pPr>
              <a:defRPr sz="1300" b="1">
                <a:solidFill>
                  <a:srgbClr val="2563EB"/>
                </a:solidFill>
                <a:latin typeface="Segoe UI"/>
              </a:defRPr>
            </a:pPr>
            <a:r>
              <a:t>PHA 1: PHÂN KỲ SONG SONG (TH1 → TH3)</a:t>
            </a:r>
          </a:p>
          <a:p>
            <a:pPr>
              <a:spcBef>
                <a:spcPts val="300"/>
              </a:spcBef>
              <a:defRPr sz="1050">
                <a:solidFill>
                  <a:srgbClr val="64748B"/>
                </a:solidFill>
                <a:latin typeface="Segoe UI"/>
              </a:defRPr>
            </a:pPr>
            <a:r>
              <a:t>4 bạn mở chung 1 file Docs/Slide, cùng điền dữ liệu theo 4 vai trò:</a:t>
            </a:r>
          </a:p>
          <a:p>
            <a:pPr>
              <a:spcBef>
                <a:spcPts val="800"/>
              </a:spcBef>
              <a:defRPr sz="1100" b="1">
                <a:solidFill>
                  <a:srgbClr val="0F2B48"/>
                </a:solidFill>
                <a:latin typeface="Segoe UI"/>
              </a:defRPr>
            </a:pPr>
            <a:r>
              <a:t>Thành viên A (Lát cắt Sinh viên - REG):</a:t>
            </a:r>
          </a:p>
          <a:p>
            <a:pPr>
              <a:spcBef>
                <a:spcPts val="100"/>
              </a:spcBef>
              <a:defRPr sz="1000">
                <a:solidFill>
                  <a:srgbClr val="1E293B"/>
                </a:solidFill>
                <a:latin typeface="Segoe UI"/>
              </a:defRPr>
            </a:pPr>
            <a:r>
              <a:t>Soạn User Need 1, nỗi đau nghẽn mạng, giải pháp Giỏ môn học và các rào cản đăng ký môn.</a:t>
            </a:r>
          </a:p>
          <a:p>
            <a:pPr>
              <a:spcBef>
                <a:spcPts val="800"/>
              </a:spcBef>
              <a:defRPr sz="1100" b="1">
                <a:solidFill>
                  <a:srgbClr val="0F2B48"/>
                </a:solidFill>
                <a:latin typeface="Segoe UI"/>
              </a:defRPr>
            </a:pPr>
            <a:r>
              <a:t>Thành viên B (Lát cắt Giảng viên - GRD):</a:t>
            </a:r>
          </a:p>
          <a:p>
            <a:pPr>
              <a:spcBef>
                <a:spcPts val="100"/>
              </a:spcBef>
              <a:defRPr sz="1000">
                <a:solidFill>
                  <a:srgbClr val="1E293B"/>
                </a:solidFill>
                <a:latin typeface="Segoe UI"/>
              </a:defRPr>
            </a:pPr>
            <a:r>
              <a:t>Soạn User Need 2, nỗi đau điểm số phân tán, sai lệch công thức trọng số và rủi ro chậm nộp sổ điểm.</a:t>
            </a:r>
          </a:p>
          <a:p>
            <a:pPr>
              <a:spcBef>
                <a:spcPts val="800"/>
              </a:spcBef>
              <a:defRPr sz="1100" b="1">
                <a:solidFill>
                  <a:srgbClr val="0F2B48"/>
                </a:solidFill>
                <a:latin typeface="Segoe UI"/>
              </a:defRPr>
            </a:pPr>
            <a:r>
              <a:t>Thành viên C (Lát cắt Phòng Đào tạo - SCH):</a:t>
            </a:r>
          </a:p>
          <a:p>
            <a:pPr>
              <a:spcBef>
                <a:spcPts val="100"/>
              </a:spcBef>
              <a:defRPr sz="1000">
                <a:solidFill>
                  <a:srgbClr val="1E293B"/>
                </a:solidFill>
                <a:latin typeface="Segoe UI"/>
              </a:defRPr>
            </a:pPr>
            <a:r>
              <a:t>Soạn User Need 3, nỗi đau vỡ kế hoạch lớp học, quá tải xử lý đơn từ khiếu nại mở thêm lớp.</a:t>
            </a:r>
          </a:p>
          <a:p>
            <a:pPr>
              <a:spcBef>
                <a:spcPts val="800"/>
              </a:spcBef>
              <a:defRPr sz="1100" b="1">
                <a:solidFill>
                  <a:srgbClr val="0F2B48"/>
                </a:solidFill>
                <a:latin typeface="Segoe UI"/>
              </a:defRPr>
            </a:pPr>
            <a:r>
              <a:t>Thành viên D (Lát cắt Phòng Tài vụ - FIN):</a:t>
            </a:r>
          </a:p>
          <a:p>
            <a:pPr>
              <a:spcBef>
                <a:spcPts val="100"/>
              </a:spcBef>
              <a:defRPr sz="1000">
                <a:solidFill>
                  <a:srgbClr val="1E293B"/>
                </a:solidFill>
                <a:latin typeface="Segoe UI"/>
              </a:defRPr>
            </a:pPr>
            <a:r>
              <a:t>Soạn User Need 4, nỗi đau chậm tiến độ công nợ học phí và quá tải đối soát sao kê ngân hàng.</a:t>
            </a:r>
          </a:p>
        </p:txBody>
      </p:sp>
      <p:sp>
        <p:nvSpPr>
          <p:cNvPr id="15" name="Rounded Rectangle 14"/>
          <p:cNvSpPr/>
          <p:nvPr/>
        </p:nvSpPr>
        <p:spPr>
          <a:xfrm>
            <a:off x="6227064" y="1783080"/>
            <a:ext cx="5230368" cy="44805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27064" y="1783080"/>
            <a:ext cx="64008" cy="44805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1947672"/>
            <a:ext cx="4910328" cy="4151376"/>
          </a:xfrm>
          <a:prstGeom prst="rect">
            <a:avLst/>
          </a:prstGeom>
          <a:noFill/>
        </p:spPr>
        <p:txBody>
          <a:bodyPr wrap="square" lIns="0" tIns="0" rIns="0" bIns="0">
            <a:spAutoFit/>
          </a:bodyPr>
          <a:lstStyle/>
          <a:p>
            <a:pPr>
              <a:defRPr sz="1300" b="1">
                <a:solidFill>
                  <a:srgbClr val="16A34A"/>
                </a:solidFill>
                <a:latin typeface="Segoe UI"/>
              </a:defRPr>
            </a:pPr>
            <a:r>
              <a:t>PHA 2: HỘI TỤ CHUYÊN MÔN CHO 01 MVP (TH4 → TH5)</a:t>
            </a:r>
          </a:p>
          <a:p>
            <a:pPr>
              <a:spcBef>
                <a:spcPts val="300"/>
              </a:spcBef>
              <a:defRPr sz="1050">
                <a:solidFill>
                  <a:srgbClr val="64748B"/>
                </a:solidFill>
                <a:latin typeface="Segoe UI"/>
              </a:defRPr>
            </a:pPr>
            <a:r>
              <a:t>Cùng xúm vào làm sâu DUY NHẤT 1 MVP Đăng ký học phần (Wishlist):</a:t>
            </a:r>
          </a:p>
          <a:p>
            <a:pPr>
              <a:spcBef>
                <a:spcPts val="800"/>
              </a:spcBef>
              <a:defRPr sz="1100" b="1">
                <a:solidFill>
                  <a:srgbClr val="0F2B48"/>
                </a:solidFill>
                <a:latin typeface="Segoe UI"/>
              </a:defRPr>
            </a:pPr>
            <a:r>
              <a:t>Thành viên A (UX/UI Designer):</a:t>
            </a:r>
          </a:p>
          <a:p>
            <a:pPr>
              <a:spcBef>
                <a:spcPts val="100"/>
              </a:spcBef>
              <a:defRPr sz="1000">
                <a:solidFill>
                  <a:srgbClr val="1E293B"/>
                </a:solidFill>
                <a:latin typeface="Segoe UI"/>
              </a:defRPr>
            </a:pPr>
            <a:r>
              <a:t>Thiết kế 3 khung màn hình Figma/wireframe: (1) Thêm môn vào giỏ, (2) Xem mô phỏng TKB, (3) Xác nhận 1 chạm.</a:t>
            </a:r>
          </a:p>
          <a:p>
            <a:pPr>
              <a:spcBef>
                <a:spcPts val="800"/>
              </a:spcBef>
              <a:defRPr sz="1100" b="1">
                <a:solidFill>
                  <a:srgbClr val="0F2B48"/>
                </a:solidFill>
                <a:latin typeface="Segoe UI"/>
              </a:defRPr>
            </a:pPr>
            <a:r>
              <a:t>Thành viên B (User Researcher):</a:t>
            </a:r>
          </a:p>
          <a:p>
            <a:pPr>
              <a:spcBef>
                <a:spcPts val="100"/>
              </a:spcBef>
              <a:defRPr sz="1000">
                <a:solidFill>
                  <a:srgbClr val="1E293B"/>
                </a:solidFill>
                <a:latin typeface="Segoe UI"/>
              </a:defRPr>
            </a:pPr>
            <a:r>
              <a:t>Soạn kịch bản Usability Test cho 20 sinh viên và thiết kế 5 câu hỏi phỏng vấn cảm xúc/độ tự tin.</a:t>
            </a:r>
          </a:p>
          <a:p>
            <a:pPr>
              <a:spcBef>
                <a:spcPts val="800"/>
              </a:spcBef>
              <a:defRPr sz="1100" b="1">
                <a:solidFill>
                  <a:srgbClr val="0F2B48"/>
                </a:solidFill>
                <a:latin typeface="Segoe UI"/>
              </a:defRPr>
            </a:pPr>
            <a:r>
              <a:t>Thành viên C (Data/QA Analyst):</a:t>
            </a:r>
          </a:p>
          <a:p>
            <a:pPr>
              <a:spcBef>
                <a:spcPts val="100"/>
              </a:spcBef>
              <a:defRPr sz="1000">
                <a:solidFill>
                  <a:srgbClr val="1E293B"/>
                </a:solidFill>
                <a:latin typeface="Segoe UI"/>
              </a:defRPr>
            </a:pPr>
            <a:r>
              <a:t>Xây dựng bảng chỉ số đo lường KPI: Task Completion Rate $\ge 90\%$, thời gian $\le 2$ phút, điểm hài lòng SUS $\ge 80$.</a:t>
            </a:r>
          </a:p>
          <a:p>
            <a:pPr>
              <a:spcBef>
                <a:spcPts val="800"/>
              </a:spcBef>
              <a:defRPr sz="1100" b="1">
                <a:solidFill>
                  <a:srgbClr val="0F2B48"/>
                </a:solidFill>
                <a:latin typeface="Segoe UI"/>
              </a:defRPr>
            </a:pPr>
            <a:r>
              <a:t>Thành viên D (Lead Documenter):</a:t>
            </a:r>
          </a:p>
          <a:p>
            <a:pPr>
              <a:spcBef>
                <a:spcPts val="100"/>
              </a:spcBef>
              <a:defRPr sz="1000">
                <a:solidFill>
                  <a:srgbClr val="1E293B"/>
                </a:solidFill>
                <a:latin typeface="Segoe UI"/>
              </a:defRPr>
            </a:pPr>
            <a:r>
              <a:t>Đóng gói toàn bộ tài liệu từ TH1 đến TH5 thành slide PowerPoint và hoàn thiện hồ sơ System Request.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20040"/>
            <a:ext cx="10728655" cy="36576"/>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8686800" cy="594360"/>
          </a:xfrm>
          <a:prstGeom prst="rect">
            <a:avLst/>
          </a:prstGeom>
          <a:noFill/>
        </p:spPr>
        <p:txBody>
          <a:bodyPr wrap="square" lIns="0" tIns="0" rIns="0" bIns="0">
            <a:spAutoFit/>
          </a:bodyPr>
          <a:lstStyle/>
          <a:p>
            <a:pPr>
              <a:defRPr sz="2000" b="1">
                <a:solidFill>
                  <a:srgbClr val="0F2B48"/>
                </a:solidFill>
                <a:latin typeface="Segoe UI"/>
              </a:defRPr>
            </a:pPr>
            <a:r>
              <a:t>7. Tổng kết Đầu ra Bài tập 1 &amp; Lộ trình Tiếp theo</a:t>
            </a:r>
          </a:p>
        </p:txBody>
      </p:sp>
      <p:sp>
        <p:nvSpPr>
          <p:cNvPr id="4" name="TextBox 3"/>
          <p:cNvSpPr txBox="1"/>
          <p:nvPr/>
        </p:nvSpPr>
        <p:spPr>
          <a:xfrm>
            <a:off x="7772400" y="411480"/>
            <a:ext cx="3687775" cy="411480"/>
          </a:xfrm>
          <a:prstGeom prst="rect">
            <a:avLst/>
          </a:prstGeom>
          <a:noFill/>
        </p:spPr>
        <p:txBody>
          <a:bodyPr wrap="square" lIns="0" tIns="0" rIns="0" bIns="0">
            <a:spAutoFit/>
          </a:bodyPr>
          <a:lstStyle/>
          <a:p>
            <a:pPr algn="r">
              <a:defRPr sz="1050" b="1">
                <a:solidFill>
                  <a:srgbClr val="0D9488"/>
                </a:solidFill>
                <a:latin typeface="Segoe UI"/>
              </a:defRPr>
            </a:pPr>
            <a:r>
              <a:t>THỰC HÀNH 1: PROBLEM STATEMENT → USER NEEDS</a:t>
            </a:r>
          </a:p>
        </p:txBody>
      </p:sp>
      <p:sp>
        <p:nvSpPr>
          <p:cNvPr id="5" name="Rectangle 4"/>
          <p:cNvSpPr/>
          <p:nvPr/>
        </p:nvSpPr>
        <p:spPr>
          <a:xfrm>
            <a:off x="731520" y="6446520"/>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4572000" cy="274320"/>
          </a:xfrm>
          <a:prstGeom prst="rect">
            <a:avLst/>
          </a:prstGeom>
          <a:noFill/>
        </p:spPr>
        <p:txBody>
          <a:bodyPr wrap="none" lIns="0" tIns="0" rIns="0" bIns="0">
            <a:spAutoFit/>
          </a:bodyPr>
          <a:lstStyle/>
          <a:p>
            <a:pPr>
              <a:defRPr sz="950">
                <a:solidFill>
                  <a:srgbClr val="64748B"/>
                </a:solidFill>
                <a:latin typeface="Segoe UI"/>
              </a:defRPr>
            </a:pPr>
            <a:r>
              <a:t>IT3120 - Phân tích &amp; Thiết kế Hệ thống | SOICT - ĐHBK Hà Nội</a:t>
            </a:r>
          </a:p>
        </p:txBody>
      </p:sp>
      <p:sp>
        <p:nvSpPr>
          <p:cNvPr id="7" name="TextBox 6"/>
          <p:cNvSpPr txBox="1"/>
          <p:nvPr/>
        </p:nvSpPr>
        <p:spPr>
          <a:xfrm>
            <a:off x="4572000" y="6492240"/>
            <a:ext cx="4572000" cy="274320"/>
          </a:xfrm>
          <a:prstGeom prst="rect">
            <a:avLst/>
          </a:prstGeom>
          <a:noFill/>
        </p:spPr>
        <p:txBody>
          <a:bodyPr wrap="none" lIns="0" tIns="0" rIns="0" bIns="0">
            <a:spAutoFit/>
          </a:bodyPr>
          <a:lstStyle/>
          <a:p>
            <a:pPr algn="ctr">
              <a:defRPr sz="950">
                <a:solidFill>
                  <a:srgbClr val="64748B"/>
                </a:solidFill>
                <a:latin typeface="Segoe UI"/>
              </a:defRPr>
            </a:pPr>
            <a:r>
              <a:t>Đề tài: Hệ thống Quản lý Đào tạo Đại học theo Học chế Tín chỉ</a:t>
            </a:r>
          </a:p>
        </p:txBody>
      </p:sp>
      <p:sp>
        <p:nvSpPr>
          <p:cNvPr id="8" name="TextBox 7"/>
          <p:cNvSpPr txBox="1"/>
          <p:nvPr/>
        </p:nvSpPr>
        <p:spPr>
          <a:xfrm>
            <a:off x="9631375" y="6492240"/>
            <a:ext cx="1828800" cy="274320"/>
          </a:xfrm>
          <a:prstGeom prst="rect">
            <a:avLst/>
          </a:prstGeom>
          <a:noFill/>
        </p:spPr>
        <p:txBody>
          <a:bodyPr wrap="none" lIns="0" tIns="0" rIns="0" bIns="0">
            <a:spAutoFit/>
          </a:bodyPr>
          <a:lstStyle/>
          <a:p>
            <a:pPr algn="r">
              <a:defRPr sz="950" b="1">
                <a:solidFill>
                  <a:srgbClr val="0F2B48"/>
                </a:solidFill>
                <a:latin typeface="Segoe UI"/>
              </a:defRPr>
            </a:pPr>
            <a:r>
              <a:t>Slide 8 / 8</a:t>
            </a:r>
          </a:p>
        </p:txBody>
      </p:sp>
      <p:sp>
        <p:nvSpPr>
          <p:cNvPr id="9" name="Rounded Rectangle 8"/>
          <p:cNvSpPr/>
          <p:nvPr/>
        </p:nvSpPr>
        <p:spPr>
          <a:xfrm>
            <a:off x="731520" y="1143000"/>
            <a:ext cx="5230368" cy="4389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143000"/>
            <a:ext cx="64008" cy="43891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325880"/>
            <a:ext cx="4910328" cy="4023360"/>
          </a:xfrm>
          <a:prstGeom prst="rect">
            <a:avLst/>
          </a:prstGeom>
          <a:noFill/>
        </p:spPr>
        <p:txBody>
          <a:bodyPr wrap="square" lIns="0" tIns="0" rIns="0" bIns="0">
            <a:spAutoFit/>
          </a:bodyPr>
          <a:lstStyle/>
          <a:p>
            <a:pPr>
              <a:defRPr sz="1300" b="1">
                <a:solidFill>
                  <a:srgbClr val="16A34A"/>
                </a:solidFill>
                <a:latin typeface="Segoe UI"/>
              </a:defRPr>
            </a:pPr>
            <a:r>
              <a:t>✅ 03 ĐẦU RA ĐẠT ĐƯỢC (DELIVERABLES)</a:t>
            </a:r>
          </a:p>
          <a:p>
            <a:pPr>
              <a:spcBef>
                <a:spcPts val="1400"/>
              </a:spcBef>
              <a:defRPr sz="1150" b="1">
                <a:solidFill>
                  <a:srgbClr val="0F2B48"/>
                </a:solidFill>
                <a:latin typeface="Segoe UI"/>
              </a:defRPr>
            </a:pPr>
            <a:r>
              <a:t>1. Danh sách 04 User Needs cốt lõi:</a:t>
            </a:r>
          </a:p>
          <a:p>
            <a:pPr>
              <a:spcBef>
                <a:spcPts val="300"/>
              </a:spcBef>
              <a:defRPr sz="1050">
                <a:solidFill>
                  <a:srgbClr val="1E293B"/>
                </a:solidFill>
                <a:latin typeface="Segoe UI"/>
              </a:defRPr>
            </a:pPr>
            <a:r>
              <a:t>Phản ánh đúng 4 góc nhìn hành vi khách quan (Sinh viên, Giảng viên, Cán bộ đào tạo, Cán bộ tài vụ) khớp 1-1 với 4 thành viên.</a:t>
            </a:r>
          </a:p>
          <a:p>
            <a:pPr>
              <a:spcBef>
                <a:spcPts val="1400"/>
              </a:spcBef>
              <a:defRPr sz="1150" b="1">
                <a:solidFill>
                  <a:srgbClr val="0F2B48"/>
                </a:solidFill>
                <a:latin typeface="Segoe UI"/>
              </a:defRPr>
            </a:pPr>
            <a:r>
              <a:t>2. Một Nhu cầu Ưu tiên &amp; Problem Statement:</a:t>
            </a:r>
          </a:p>
          <a:p>
            <a:pPr>
              <a:spcBef>
                <a:spcPts val="300"/>
              </a:spcBef>
              <a:defRPr sz="1050">
                <a:solidFill>
                  <a:srgbClr val="1E293B"/>
                </a:solidFill>
                <a:latin typeface="Segoe UI"/>
              </a:defRPr>
            </a:pPr>
            <a:r>
              <a:t>Đào sâu bài toán sinh tử về đăng ký môn học và giữ chỗ học phần cốt lõi của sinh viên.</a:t>
            </a:r>
          </a:p>
          <a:p>
            <a:pPr>
              <a:spcBef>
                <a:spcPts val="1400"/>
              </a:spcBef>
              <a:defRPr sz="1150" b="1">
                <a:solidFill>
                  <a:srgbClr val="0F2B48"/>
                </a:solidFill>
                <a:latin typeface="Segoe UI"/>
              </a:defRPr>
            </a:pPr>
            <a:r>
              <a:t>3. Danh mục 03 Giả định &amp; Ma trận Phân công:</a:t>
            </a:r>
          </a:p>
          <a:p>
            <a:pPr>
              <a:spcBef>
                <a:spcPts val="300"/>
              </a:spcBef>
              <a:defRPr sz="1050">
                <a:solidFill>
                  <a:srgbClr val="1E293B"/>
                </a:solidFill>
                <a:latin typeface="Segoe UI"/>
              </a:defRPr>
            </a:pPr>
            <a:r>
              <a:t>Xác định rõ các câu hỏi mở cần điều tra và quy trình làm việc song song không nghẽn cổ chai.</a:t>
            </a:r>
          </a:p>
        </p:txBody>
      </p:sp>
      <p:sp>
        <p:nvSpPr>
          <p:cNvPr id="12" name="Rounded Rectangle 11"/>
          <p:cNvSpPr/>
          <p:nvPr/>
        </p:nvSpPr>
        <p:spPr>
          <a:xfrm>
            <a:off x="6227064" y="1143000"/>
            <a:ext cx="5230368" cy="4389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7064" y="1143000"/>
            <a:ext cx="64008" cy="4389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1325880"/>
            <a:ext cx="4910328" cy="4023360"/>
          </a:xfrm>
          <a:prstGeom prst="rect">
            <a:avLst/>
          </a:prstGeom>
          <a:noFill/>
        </p:spPr>
        <p:txBody>
          <a:bodyPr wrap="square" lIns="0" tIns="0" rIns="0" bIns="0">
            <a:spAutoFit/>
          </a:bodyPr>
          <a:lstStyle/>
          <a:p>
            <a:pPr>
              <a:defRPr sz="1300" b="1">
                <a:solidFill>
                  <a:srgbClr val="2563EB"/>
                </a:solidFill>
                <a:latin typeface="Segoe UI"/>
              </a:defRPr>
            </a:pPr>
            <a:r>
              <a:t>🚀 LỘ TRÌNH PHÂN TÍCH SÂU TIẾP THEO</a:t>
            </a:r>
          </a:p>
          <a:p>
            <a:pPr>
              <a:spcBef>
                <a:spcPts val="1400"/>
              </a:spcBef>
              <a:defRPr sz="1150" b="1">
                <a:solidFill>
                  <a:srgbClr val="0F2B48"/>
                </a:solidFill>
                <a:latin typeface="Segoe UI"/>
              </a:defRPr>
            </a:pPr>
            <a:r>
              <a:t>Thực hành 2: User Problem Statement Canvas</a:t>
            </a:r>
          </a:p>
          <a:p>
            <a:pPr>
              <a:spcBef>
                <a:spcPts val="300"/>
              </a:spcBef>
              <a:defRPr sz="1050">
                <a:solidFill>
                  <a:srgbClr val="1E293B"/>
                </a:solidFill>
                <a:latin typeface="Segoe UI"/>
              </a:defRPr>
            </a:pPr>
            <a:r>
              <a:t>Hoàn thiện khung Canvas 6 ô bóc tách bối cảnh, nguyên nhân gốc rễ và giải pháp thay thế cho nhánh Sinh viên.</a:t>
            </a:r>
          </a:p>
          <a:p>
            <a:pPr>
              <a:spcBef>
                <a:spcPts val="1400"/>
              </a:spcBef>
              <a:defRPr sz="1150" b="1">
                <a:solidFill>
                  <a:srgbClr val="0F2B48"/>
                </a:solidFill>
                <a:latin typeface="Segoe UI"/>
              </a:defRPr>
            </a:pPr>
            <a:r>
              <a:t>Thực hành 3: Xác định Business Problem</a:t>
            </a:r>
          </a:p>
          <a:p>
            <a:pPr>
              <a:spcBef>
                <a:spcPts val="300"/>
              </a:spcBef>
              <a:defRPr sz="1050">
                <a:solidFill>
                  <a:srgbClr val="1E293B"/>
                </a:solidFill>
                <a:latin typeface="Segoe UI"/>
              </a:defRPr>
            </a:pPr>
            <a:r>
              <a:t>Thiết lập chuỗi nhân quả: User Problem $\rightarrow$ Operational Impact $\rightarrow$ Business Problem $\rightarrow$ Desired Outcomes.</a:t>
            </a:r>
          </a:p>
          <a:p>
            <a:pPr>
              <a:spcBef>
                <a:spcPts val="1400"/>
              </a:spcBef>
              <a:defRPr sz="1150" b="1">
                <a:solidFill>
                  <a:srgbClr val="0F2B48"/>
                </a:solidFill>
                <a:latin typeface="Segoe UI"/>
              </a:defRPr>
            </a:pPr>
            <a:r>
              <a:t>Thực hành 4 &amp; 5: Lean UX Canvas &amp; MVP Plan</a:t>
            </a:r>
          </a:p>
          <a:p>
            <a:pPr>
              <a:spcBef>
                <a:spcPts val="300"/>
              </a:spcBef>
              <a:defRPr sz="1050">
                <a:solidFill>
                  <a:srgbClr val="1E293B"/>
                </a:solidFill>
                <a:latin typeface="Segoe UI"/>
              </a:defRPr>
            </a:pPr>
            <a:r>
              <a:t>Tổng hợp 8 ô Canvas, viết giả thuyết và thiết kế kịch bản thử nghiệm Usability Test cho 20 sinh viên trên Figma.</a:t>
            </a:r>
          </a:p>
        </p:txBody>
      </p:sp>
      <p:sp>
        <p:nvSpPr>
          <p:cNvPr id="15" name="Rounded Rectangle 14"/>
          <p:cNvSpPr/>
          <p:nvPr/>
        </p:nvSpPr>
        <p:spPr>
          <a:xfrm>
            <a:off x="731520" y="5715000"/>
            <a:ext cx="10728655" cy="5943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806440"/>
            <a:ext cx="10332720" cy="411480"/>
          </a:xfrm>
          <a:prstGeom prst="rect">
            <a:avLst/>
          </a:prstGeom>
          <a:noFill/>
        </p:spPr>
        <p:txBody>
          <a:bodyPr wrap="none" lIns="0" tIns="0" rIns="0" bIns="0">
            <a:spAutoFit/>
          </a:bodyPr>
          <a:lstStyle/>
          <a:p>
            <a:pPr algn="ctr">
              <a:defRPr sz="1150" b="1">
                <a:solidFill>
                  <a:srgbClr val="0F2B48"/>
                </a:solidFill>
                <a:latin typeface="Segoe UI"/>
              </a:defRPr>
            </a:pPr>
            <a:r>
              <a:t>Nhóm xin chân thành cảm ơn Thầy/Cô và các bạn đã chú ý lắng nghe! Sẵn sàng nhận câu hỏi thảo luận.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